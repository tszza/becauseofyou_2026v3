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97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customXmlProps" Target="../customXml/itemProps97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因为邮你</a:t>
            </a:r>
            <a:r>
              <a:rPr lang="zh-CN" altLang="en-US"/>
              <a:t>科研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2026.7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实验平台</a:t>
            </a:r>
            <a:endParaRPr lang="zh-CN" altLang="en-US"/>
          </a:p>
        </p:txBody>
      </p:sp>
      <p:pic>
        <p:nvPicPr>
          <p:cNvPr id="5" name="F360BE8B-6686-4F3D-AEAF-501FE73E4058-1" descr="绘图1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705" y="1544320"/>
            <a:ext cx="8069580" cy="42970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Designer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/>
              <a:t>关于数据集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一个游戏在开发之前，要考虑哪些指标？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（游戏定位；用户特征</a:t>
            </a:r>
            <a:r>
              <a:rPr lang="en-US" altLang="zh-CN"/>
              <a:t>/</a:t>
            </a:r>
            <a:r>
              <a:rPr lang="zh-CN" altLang="en-US"/>
              <a:t>设计映射；核心玩法</a:t>
            </a:r>
            <a:r>
              <a:rPr lang="en-US" altLang="zh-CN"/>
              <a:t>/</a:t>
            </a:r>
            <a:r>
              <a:rPr lang="zh-CN" altLang="en-US"/>
              <a:t>交互循环；故事总体结构；世界观与事实约束；角色设计；选择设计；状态与变量模型 ；信息、线索和认知状态 ；</a:t>
            </a:r>
            <a:r>
              <a:rPr lang="en-US" altLang="zh-CN"/>
              <a:t>Controller</a:t>
            </a:r>
            <a:r>
              <a:rPr lang="zh-CN" altLang="en-US"/>
              <a:t>执行契约；结局和评价结构；安全与伦理约束 ；设计原理与适用条件；测试结果与失败案例）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调研</a:t>
            </a:r>
            <a:r>
              <a:rPr lang="zh-CN" altLang="en-US"/>
              <a:t>对象？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Vision Document / Creative Brief</a:t>
            </a:r>
            <a:r>
              <a:rPr lang="zh-CN" altLang="en-US"/>
              <a:t>；</a:t>
            </a:r>
            <a:r>
              <a:rPr lang="en-US" altLang="zh-CN"/>
              <a:t>GDD</a:t>
            </a:r>
            <a:r>
              <a:rPr lang="zh-CN" altLang="en-US"/>
              <a:t>；</a:t>
            </a:r>
            <a:r>
              <a:rPr lang="en-US" altLang="zh-CN"/>
              <a:t>NDD</a:t>
            </a:r>
            <a:r>
              <a:rPr lang="zh-CN" altLang="en-US"/>
              <a:t>；</a:t>
            </a:r>
            <a:r>
              <a:rPr lang="en-US" altLang="zh-CN"/>
              <a:t>Story Bible</a:t>
            </a:r>
            <a:r>
              <a:rPr lang="zh-CN" altLang="en-US"/>
              <a:t>；</a:t>
            </a:r>
            <a:r>
              <a:rPr lang="en-US" altLang="zh-CN"/>
              <a:t>Content Design Specification</a:t>
            </a:r>
            <a:r>
              <a:rPr lang="zh-CN" altLang="en-US"/>
              <a:t>；</a:t>
            </a:r>
            <a:r>
              <a:rPr lang="en-US" altLang="zh-CN"/>
              <a:t>TDD / State Specification</a:t>
            </a:r>
            <a:r>
              <a:rPr lang="zh-CN" altLang="en-US"/>
              <a:t>；</a:t>
            </a:r>
            <a:r>
              <a:rPr lang="en-US" altLang="zh-CN"/>
              <a:t>Telemetry Specification</a:t>
            </a:r>
            <a:r>
              <a:rPr lang="zh-CN" altLang="en-US"/>
              <a:t>；</a:t>
            </a:r>
            <a:r>
              <a:rPr lang="en-US" altLang="zh-CN"/>
              <a:t>QA Test Plan</a:t>
            </a:r>
            <a:r>
              <a:rPr lang="zh-CN" altLang="en-US"/>
              <a:t>；</a:t>
            </a:r>
            <a:r>
              <a:rPr lang="en-US" altLang="zh-CN"/>
              <a:t>Postmortem / Playtest Report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以及现有的</a:t>
            </a:r>
            <a:r>
              <a:rPr lang="zh-CN" altLang="en-US"/>
              <a:t>数据集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design scheme</a:t>
            </a:r>
            <a:r>
              <a:rPr lang="zh-CN" altLang="en-US"/>
              <a:t>结构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  </a:t>
            </a:r>
            <a:r>
              <a:rPr lang="zh-CN" altLang="en-US"/>
              <a:t>数据集是同类型游戏的设计案，</a:t>
            </a:r>
            <a:r>
              <a:rPr lang="en-US" altLang="zh-CN"/>
              <a:t>designer</a:t>
            </a:r>
            <a:r>
              <a:rPr lang="zh-CN" altLang="en-US"/>
              <a:t>要基于</a:t>
            </a:r>
            <a:r>
              <a:rPr lang="en-US" altLang="zh-CN"/>
              <a:t>prompt</a:t>
            </a:r>
            <a:r>
              <a:rPr lang="zh-CN" altLang="en-US"/>
              <a:t>，并在需求的约束下，生成一个与数据集里内容门类一致、结构一致的设计方案作为</a:t>
            </a:r>
            <a:r>
              <a:rPr lang="zh-CN" altLang="en-US"/>
              <a:t>输出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prompt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</a:t>
            </a:r>
            <a:r>
              <a:rPr lang="zh-CN" altLang="en-US"/>
              <a:t>约束</a:t>
            </a:r>
            <a:r>
              <a:rPr lang="en-US" altLang="zh-CN"/>
              <a:t>designer</a:t>
            </a:r>
            <a:r>
              <a:rPr lang="zh-CN" altLang="en-US"/>
              <a:t>去模仿数据集中的设计方案样例，在</a:t>
            </a:r>
            <a:r>
              <a:rPr lang="en-US" altLang="zh-CN"/>
              <a:t>prompt</a:t>
            </a:r>
            <a:r>
              <a:rPr lang="zh-CN" altLang="en-US"/>
              <a:t>中的需求</a:t>
            </a:r>
            <a:r>
              <a:rPr lang="zh-CN" altLang="en-US"/>
              <a:t>约束以及输入问卷的条件下，生成专门的设计</a:t>
            </a:r>
            <a:r>
              <a:rPr lang="zh-CN" altLang="en-US"/>
              <a:t>方案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Controller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prompt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需求：以</a:t>
            </a:r>
            <a:r>
              <a:rPr lang="en-US" altLang="zh-CN"/>
              <a:t>designer</a:t>
            </a:r>
            <a:r>
              <a:rPr lang="zh-CN" altLang="en-US"/>
              <a:t>输出的设计方案为蓝本，与用户逐轮</a:t>
            </a:r>
            <a:r>
              <a:rPr lang="zh-CN" altLang="en-US"/>
              <a:t>交互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memory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现阶段</a:t>
            </a:r>
            <a:r>
              <a:rPr lang="en-US" altLang="zh-CN"/>
              <a:t>LLM</a:t>
            </a:r>
            <a:r>
              <a:rPr lang="zh-CN" altLang="en-US"/>
              <a:t>对于时空的理解不足，容易导致剧情漂移</a:t>
            </a:r>
            <a:r>
              <a:rPr lang="zh-CN" altLang="en-US"/>
              <a:t>且违反常识。前期开发表明采用</a:t>
            </a:r>
            <a:r>
              <a:rPr lang="en-US" altLang="zh-CN"/>
              <a:t>prompt</a:t>
            </a:r>
            <a:r>
              <a:rPr lang="zh-CN" altLang="en-US"/>
              <a:t>进行强约束已不足以解决上述问题。所以要将用户的输入和</a:t>
            </a:r>
            <a:r>
              <a:rPr lang="en-US" altLang="zh-CN"/>
              <a:t>state</a:t>
            </a:r>
            <a:r>
              <a:rPr lang="zh-CN" altLang="en-US"/>
              <a:t>存放在</a:t>
            </a:r>
            <a:r>
              <a:rPr lang="en-US" altLang="zh-CN"/>
              <a:t>memory</a:t>
            </a:r>
            <a:r>
              <a:rPr lang="zh-CN" altLang="en-US"/>
              <a:t>里，每次调用</a:t>
            </a:r>
            <a:r>
              <a:rPr lang="en-US" altLang="zh-CN"/>
              <a:t>topK</a:t>
            </a:r>
            <a:r>
              <a:rPr lang="zh-CN" altLang="en-US"/>
              <a:t>，使得剧情衔接</a:t>
            </a:r>
            <a:r>
              <a:rPr lang="zh-CN" altLang="en-US"/>
              <a:t>紧密。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/>
              <a:t>输出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交互日志、语义日志、</a:t>
            </a:r>
            <a:r>
              <a:rPr lang="zh-CN" altLang="en-US"/>
              <a:t>状态日志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data </a:t>
            </a:r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承接</a:t>
            </a:r>
            <a:r>
              <a:rPr lang="en-US" altLang="zh-CN"/>
              <a:t>controller</a:t>
            </a:r>
            <a:r>
              <a:rPr lang="zh-CN" altLang="en-US"/>
              <a:t>的</a:t>
            </a:r>
            <a:r>
              <a:rPr lang="zh-CN" altLang="en-US"/>
              <a:t>三个日志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、交互</a:t>
            </a:r>
            <a:r>
              <a:rPr lang="zh-CN" altLang="en-US"/>
              <a:t>日志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用户进入游戏、场景展示、用户输入、选择点击、请求发送、响应完成、停留时间、打开历史记录、回退、重试、退出、恢复游戏、游戏结束（由后端直接</a:t>
            </a:r>
            <a:r>
              <a:rPr lang="zh-CN" altLang="en-US"/>
              <a:t>生成）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、语义</a:t>
            </a:r>
            <a:r>
              <a:rPr lang="zh-CN" altLang="en-US"/>
              <a:t>日志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用户采取了调查行为、用户试图执行两个动作、用户选择信任某角色、用户回避风险、用户获得某条线索、用户触发某个剧情节拍、某人物关系发生变化、某个延迟后果被登记（用于</a:t>
            </a:r>
            <a:r>
              <a:rPr lang="en-US" altLang="zh-CN"/>
              <a:t>critic</a:t>
            </a:r>
            <a:r>
              <a:rPr lang="zh-CN" altLang="en-US"/>
              <a:t>语义理解，</a:t>
            </a:r>
            <a:r>
              <a:rPr lang="zh-CN" altLang="en-US"/>
              <a:t>以心理</a:t>
            </a:r>
            <a:r>
              <a:rPr lang="zh-CN" altLang="en-US"/>
              <a:t>评估）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/>
              <a:t>状态日志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用户在游戏中的形象的数值变化、游戏环境中各个主体的状态</a:t>
            </a:r>
            <a:r>
              <a:rPr lang="zh-CN" altLang="en-US"/>
              <a:t>变化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Critic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解析用户行为和系统行为的语义，推导用户的心理状态，按照心理评估的规则，在问卷上维度上打分，最终输出</a:t>
            </a:r>
            <a:r>
              <a:rPr lang="zh-CN" altLang="en-US"/>
              <a:t>报告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设计</a:t>
            </a:r>
            <a:r>
              <a:rPr lang="zh-CN" altLang="en-US"/>
              <a:t>映射评分</a:t>
            </a:r>
            <a:r>
              <a:rPr lang="zh-CN" altLang="en-US"/>
              <a:t>规则？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技术</a:t>
            </a:r>
            <a:r>
              <a:rPr lang="zh-CN" altLang="en-US"/>
              <a:t>路线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zh-CN" sz="3600"/>
          </a:p>
          <a:p>
            <a:pPr marL="0" indent="0">
              <a:buNone/>
            </a:pPr>
            <a:endParaRPr lang="en-US" altLang="zh-CN" sz="3600"/>
          </a:p>
          <a:p>
            <a:pPr marL="0" indent="0" algn="ctr">
              <a:buNone/>
            </a:pPr>
            <a:r>
              <a:rPr lang="en-US" altLang="zh-CN" sz="3600"/>
              <a:t>LLM agent-&gt;</a:t>
            </a:r>
            <a:r>
              <a:rPr lang="zh-CN" altLang="en-US" sz="3600"/>
              <a:t>多模态</a:t>
            </a:r>
            <a:r>
              <a:rPr lang="en-US" altLang="zh-CN" sz="3600"/>
              <a:t> agent-&gt;VLA-&gt;</a:t>
            </a:r>
            <a:r>
              <a:rPr lang="zh-CN" altLang="en-US" sz="3600"/>
              <a:t>世界模型</a:t>
            </a:r>
            <a:endParaRPr lang="zh-CN" altLang="en-US" sz="36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item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、数据集中各种类别字段的有无对于生成游戏设计方案质量的影响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Wingdings" panose="05000000000000000000" charset="0"/>
              <a:buChar char="l"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评测指标分为两个大类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——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文学性（即叙述是否连贯、符合常识、能够给用户带来所谓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沉浸式体验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）和科学性（即能否用于游戏化心理测评，具不具备信效度）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、测验系统对于心理健康状态评估的准确度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Wingdings" panose="05000000000000000000" charset="0"/>
              <a:buChar char="l"/>
            </a:pPr>
            <a:r>
              <a:rPr lang="zh-CN" altLang="en-US">
                <a:solidFill>
                  <a:srgbClr val="FF0000"/>
                </a:solidFill>
              </a:rPr>
              <a:t>编写模拟患者，系统是否能够识别病症</a:t>
            </a:r>
            <a:endParaRPr lang="zh-CN" altLang="en-US">
              <a:solidFill>
                <a:srgbClr val="FF0000"/>
              </a:solidFill>
            </a:endParaRPr>
          </a:p>
          <a:p>
            <a:pPr>
              <a:buFont typeface="Wingdings" panose="05000000000000000000" charset="0"/>
              <a:buChar char="l"/>
            </a:pPr>
            <a:r>
              <a:rPr lang="zh-CN" altLang="en-US">
                <a:solidFill>
                  <a:srgbClr val="FF0000"/>
                </a:solidFill>
              </a:rPr>
              <a:t>真人测试，分为人工组和系统组，对于相同的受试样本，咨询师的打分情况和系统的打分情况进行对比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endParaRPr lang="zh-CN" altLang="en-US">
              <a:solidFill>
                <a:srgbClr val="FF0000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zh-CN"/>
          </a:p>
          <a:p>
            <a:pPr marL="0" indent="0">
              <a:buFont typeface="Wingdings" panose="05000000000000000000" charset="0"/>
              <a:buNone/>
            </a:pPr>
            <a:endParaRPr lang="zh-CN" altLang="en-US"/>
          </a:p>
          <a:p>
            <a:pPr>
              <a:buFont typeface="Wingdings" panose="05000000000000000000" charset="0"/>
              <a:buChar char="l"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、文生图及游戏</a:t>
            </a:r>
            <a:r>
              <a:rPr lang="zh-CN" altLang="en-US"/>
              <a:t>音效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  </a:t>
            </a:r>
            <a:r>
              <a:rPr lang="zh-CN" altLang="en-US"/>
              <a:t>以脸谱化的人物立绘作为知识库，实时</a:t>
            </a:r>
            <a:r>
              <a:rPr lang="zh-CN" altLang="en-US"/>
              <a:t>将游戏文本、状态、玩家输入等内容作为提示词，调用生图</a:t>
            </a:r>
            <a:r>
              <a:rPr lang="en-US" altLang="zh-CN"/>
              <a:t>API</a:t>
            </a:r>
            <a:r>
              <a:rPr lang="zh-CN" altLang="en-US"/>
              <a:t>，生成基于</a:t>
            </a:r>
            <a:r>
              <a:rPr lang="en-US" altLang="zh-CN"/>
              <a:t>Unity</a:t>
            </a:r>
            <a:r>
              <a:rPr lang="zh-CN" altLang="en-US"/>
              <a:t>的前端展示面。实验的主要评测点在于，模型对于以上文本的语义理解是否到位，生成游戏界面是否符合游戏情景，是否存在如</a:t>
            </a:r>
            <a:r>
              <a:rPr lang="en-US" altLang="zh-CN"/>
              <a:t>“</a:t>
            </a:r>
            <a:r>
              <a:rPr lang="zh-CN" altLang="en-US"/>
              <a:t>三只手</a:t>
            </a:r>
            <a:r>
              <a:rPr lang="en-US" altLang="zh-CN"/>
              <a:t>”</a:t>
            </a:r>
            <a:r>
              <a:rPr lang="zh-CN" altLang="en-US"/>
              <a:t>这样的错误</a:t>
            </a:r>
            <a:r>
              <a:rPr lang="zh-CN" altLang="en-US"/>
              <a:t>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   </a:t>
            </a:r>
            <a:r>
              <a:rPr lang="zh-CN" altLang="en-US"/>
              <a:t>基于</a:t>
            </a:r>
            <a:r>
              <a:rPr lang="zh-CN" altLang="en-US">
                <a:sym typeface="+mn-ea"/>
              </a:rPr>
              <a:t>游戏文本、状态、玩家输入等内容</a:t>
            </a:r>
            <a:r>
              <a:rPr lang="zh-CN" altLang="en-US"/>
              <a:t>，话外音或者人物的语音合成，游戏音乐的采用</a:t>
            </a:r>
            <a:r>
              <a:rPr lang="zh-CN" altLang="en-US"/>
              <a:t>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4</a:t>
            </a:r>
            <a:r>
              <a:rPr lang="zh-CN" altLang="en-US"/>
              <a:t>、自主</a:t>
            </a:r>
            <a:r>
              <a:rPr lang="en-US" altLang="zh-CN"/>
              <a:t>NPC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version</a:t>
            </a:r>
            <a:r>
              <a:rPr lang="zh-CN" altLang="en-US"/>
              <a:t>：数字人</a:t>
            </a:r>
            <a:r>
              <a:rPr lang="en-US" altLang="zh-CN"/>
              <a:t>3D</a:t>
            </a:r>
            <a:r>
              <a:rPr lang="zh-CN" altLang="en-US"/>
              <a:t>立绘形象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   language</a:t>
            </a:r>
            <a:r>
              <a:rPr lang="zh-CN" altLang="en-US"/>
              <a:t>：每个</a:t>
            </a:r>
            <a:r>
              <a:rPr lang="en-US" altLang="zh-CN"/>
              <a:t>NPC</a:t>
            </a:r>
            <a:r>
              <a:rPr lang="zh-CN" altLang="en-US"/>
              <a:t>都是一个独立的</a:t>
            </a:r>
            <a:r>
              <a:rPr lang="en-US" altLang="zh-CN"/>
              <a:t>agent</a:t>
            </a:r>
            <a:r>
              <a:rPr lang="zh-CN" altLang="en-US"/>
              <a:t>，台词生成和语音</a:t>
            </a:r>
            <a:r>
              <a:rPr lang="zh-CN" altLang="en-US"/>
              <a:t>合成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   action</a:t>
            </a:r>
            <a:r>
              <a:rPr lang="zh-CN" altLang="en-US"/>
              <a:t>：</a:t>
            </a:r>
            <a:r>
              <a:rPr lang="en-US" altLang="zh-CN"/>
              <a:t>NPC</a:t>
            </a:r>
            <a:r>
              <a:rPr lang="zh-CN" altLang="en-US"/>
              <a:t>和玩家的</a:t>
            </a:r>
            <a:r>
              <a:rPr lang="en-US" altLang="zh-CN"/>
              <a:t>action</a:t>
            </a:r>
            <a:r>
              <a:rPr lang="zh-CN" altLang="en-US"/>
              <a:t>指令对于环境状态的改变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zh-CN" altLang="en-US"/>
              <a:t>世界模型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让</a:t>
            </a:r>
            <a:r>
              <a:rPr lang="zh-CN" altLang="en-US"/>
              <a:t>模型回答：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现在世界是什么状态？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执行某个动作后，世界会怎样变化？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每个</a:t>
            </a:r>
            <a:r>
              <a:rPr lang="en-US" altLang="zh-CN"/>
              <a:t>NPC</a:t>
            </a:r>
            <a:r>
              <a:rPr lang="zh-CN" altLang="en-US"/>
              <a:t>分别观察到了什么、相信什么？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对未来若干步进行模拟时，哪些结果可能发生？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分工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zh-CN" altLang="en-US"/>
              <a:t>按照</a:t>
            </a:r>
            <a:r>
              <a:rPr lang="en-US" altLang="zh-CN"/>
              <a:t>designer-&gt;controller-&gt;critic</a:t>
            </a:r>
            <a:r>
              <a:rPr lang="zh-CN" altLang="en-US"/>
              <a:t>的顺序</a:t>
            </a:r>
            <a:r>
              <a:rPr lang="zh-CN" altLang="en-US"/>
              <a:t>开发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designer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数据集调研、数据集结构规范、</a:t>
            </a:r>
            <a:r>
              <a:rPr lang="en-US" altLang="zh-CN"/>
              <a:t>designer</a:t>
            </a:r>
            <a:r>
              <a:rPr lang="zh-CN" altLang="en-US"/>
              <a:t>输出规范、数据集构建（赵</a:t>
            </a:r>
            <a:r>
              <a:rPr lang="en-US" altLang="zh-CN"/>
              <a:t>zz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数据集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prompt</a:t>
            </a:r>
            <a:r>
              <a:rPr lang="zh-CN" altLang="en-US"/>
              <a:t>（尹</a:t>
            </a:r>
            <a:r>
              <a:rPr lang="en-US" altLang="zh-CN"/>
              <a:t>ch</a:t>
            </a:r>
            <a:r>
              <a:rPr lang="zh-CN" altLang="en-US"/>
              <a:t>、</a:t>
            </a:r>
            <a:r>
              <a:rPr lang="en-US" altLang="zh-CN"/>
              <a:t>cc</a:t>
            </a:r>
            <a:r>
              <a:rPr lang="zh-CN" altLang="en-US"/>
              <a:t>、路</a:t>
            </a:r>
            <a:r>
              <a:rPr lang="en-US" altLang="zh-CN"/>
              <a:t>xy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controller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架构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prompt</a:t>
            </a:r>
            <a:r>
              <a:rPr lang="zh-CN" altLang="en-US"/>
              <a:t>（尹</a:t>
            </a:r>
            <a:r>
              <a:rPr lang="en-US" altLang="zh-CN"/>
              <a:t>ch</a:t>
            </a:r>
            <a:r>
              <a:rPr lang="zh-CN" altLang="en-US"/>
              <a:t>、路</a:t>
            </a:r>
            <a:r>
              <a:rPr lang="en-US" altLang="zh-CN"/>
              <a:t>xy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测试前端（路</a:t>
            </a:r>
            <a:r>
              <a:rPr lang="en-US" altLang="zh-CN"/>
              <a:t>xy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critic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prompt</a:t>
            </a:r>
            <a:r>
              <a:rPr lang="zh-CN" altLang="en-US"/>
              <a:t>（尹</a:t>
            </a:r>
            <a:r>
              <a:rPr lang="en-US" altLang="zh-CN"/>
              <a:t>ch</a:t>
            </a:r>
            <a:r>
              <a:rPr lang="zh-CN" altLang="en-US"/>
              <a:t>、路</a:t>
            </a:r>
            <a:r>
              <a:rPr lang="en-US" altLang="zh-CN"/>
              <a:t>xy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评分规则（</a:t>
            </a:r>
            <a:r>
              <a:rPr lang="en-US" altLang="zh-CN"/>
              <a:t>cc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4</a:t>
            </a:r>
            <a:r>
              <a:rPr lang="zh-CN" altLang="en-US"/>
              <a:t>、跑实验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60BE8B-6686-4F3D-AEAF-501FE73E4058-1">
      <extobjdata type="F360BE8B-6686-4F3D-AEAF-501FE73E4058" data="ewoJIkZpbGVDb250ZW50IiA6ICJVRXNEQkJRQUFBQUlBSmxqL0Z5aWdKeW5yd0VBQU9rREFBQU1BQUFBWkc5amRXMWxiblF1ZUcxc2haTmRiNXN3RklidkorMC9XTDRuTmM0SFRnU3JNdEoybGRJUGxiWFZMaDF6QUN0Z1Y4WjByYWI5OTJGYWhZWW1HaGRJdk0vTGEvdWM0L0QwcFNyUk01aGFhaFZoZjBRd0FpVjBLbFVlNGNabUhzT24zNzUrQ1ZkYU5CVW9peDUyWGpvaW96bEdMYmxvWkJyaFA4RG9tQWVRZVpzcHpMM0p4Sjk0R3pHZWU4RUd4ck9aWUFFbm03OFkzU1FSZnBRS3Q3R29mVngwckZVbTgzZWhFeE5kTnJaZEJ6MUVlRXA4ZkRLQVY3emVPa2IyeWYxVHlpM2M4aHl1ZVFYT2NMNWNKMmVEM3d2OSs4TEkxT0dmZC9jSDZGMVRnam1PM1htaGxBcU9XOXdXdmh2ZzI4T1dHNU12RzZ2WC9GVTM5ckNscXY3dldHdXhqZCtLOUJsZjVrb2JXRUVXSzV2WTEvSllPWGErYzYzc0VjOVpDY0lhS1hnWkcxM1h1N2krL09ISnNJOWhZdHRSa21XOVY1czNEZDF5VzBTWUJyTkI2ZmJ3NUVQNklDeGNDaXVmdTA1ZnFoUmVCcHR4ZXUyMGZuTEMxWk4wQ3UyVlJCZ0E5U2hUVzNTRU1US0VQMERtUlZjVm41R1BDNVRjWnRwVWpxUlFiM3NTdDEyM2tLN2FWeGRLNk13amdVY1pJbXhCZzRVL0hYaDFOMm0vcElxTG5seTFWekNUQjJOOHVxQnNNZlUvbVFjNVhVZTZTOXQrL0FOUVN3TUVGQUFBQUFnQW1XUDhYSEdseUM4SklBQUE3WlFCQUE4QUFBQndZV2RsY3k5d1lXZGxNUzU0Yld6dFhkdHVITWw1dmcrUWR4aFFnS0dOeFdMWHNidlgzS3hKanFSVklHbHBrZEtLV2V6RmlHcUo0eDFPMHpORGVaVXJPNzUwQWdTSWdTQkJjbUVnZ2ZmT0NKQkZBTU41RzYvWGZvdlVvWTh6MVZYVjB6UGtVQ3J0eFhLNi9qcjlkZnIrVTlYdXgxK2RqM3B2a3NsMG1JNC8yb0lnMk9vbDQ5UDA1WEQ4K3FPdHA4ZjN0cU90ai8vNkwvOWk5M0R3T3VrOTZIT1NnSk1jdjcxSVB0b1MzN1o2andmbi9POC8vL3FiYmJqVis5czBQZWMwVzcybjQrSHNvNjN6ODYzZTRTUTVIRndrRS80WmIvR2lldnlmTE81d2tsNU1zdy95NDJmRGw3T3ozak5PQ0JFQ0ZHM3RWRk0vU1lhdnoyWWlPWXd4Q0FOWVR4WVZGZ1VnR0N5bWxnV2dPS3duaStic1Q1TEJsK1ltRkdTV3RoeW1rOWxrTUpRRTkvWWVIdDJ0Sis5ZHp0S2o0ZDhsSXZuNHlkTzdEWlU4VEY3SkVvS0c5T1Awd3BUOEpHL2lmT055Z3YxME5rdlBOUlJIcDVOME5Ib3VDd2NVc3pEVXBaOWs2U2dLNkJ6Qi9jbnc1WDd5ZWpoK3JtbGdrWGlpU2Z4MDhyby9uQ1NuTXo0ZDZ5M2IzWm1mTTdzUEIyL1R5MWsxKzk5Y25sODhTbDhtbWs2SnBLUFoyMUdpcVZXbVpRUEM2a21QTDg5ZlBFemVKQ05OdHZQelI0TWZweE01b3hhVGhtT1ZORDhWZVJlZkpaUCtjRHJUWmVTcG42U1cxTDNwVkNSR2Mrdmo0dWgwb0xwSGcva2t2Z2hQZVprWlZ3T3dRTUJyTERnWFZKaGU0N0dvLzk0d0diMFUxS1BCMjk3UldmclR3N04wbHVienZQZFl6dXppcDB3OFRLZWkwSjVjWEp3aHZGYzl0WUk0dTRPTTZPRnduT1NFeDhsWE04NmoyWkIzS0M5cWpnMnlHYkwrYkEycHpTbmZqcjc5elQ5LyswLy9xSDQ5L1doTC9HK3JkMjgwZUszS0g4NUdpYVpnV2ZpendlaFNzb0Z2WWg5dEhSMC9xYkZLa3R4THg3UGV2Y0g1Y1BUMm82MUhRNzRjcGlsZnF5Y0QzcXV0bm1JQUgvYmVRVHBLK2I1M2k4aC9kWmJ2NUoxdzZoZ3FPdmFmLy9PblgvK3E2SmpzeVkzdUdTdE9rRjk4L2VkLyticm9XVCs1R0V4bTU4bDRkZ083bDgxKzBiOHc3OS9kODhGd1ZIUXYrM1dUZXhZVmMvSi8vK3NQLy9mdjMvM3Ftei85OWorS0RuN0dWL1Y0MDZkbStTSGIwZVkzdW1teEU5NGJqa2IzMHNuNVlKYWhuOGVpZTBYeS92MTdrL1Q4K0N3NW56dDhkZzhudy9Ic0tKbGRYdlR1RGZtSmUzU1dKTE9Da1JsZ0NzcnRVV0NYWW5zVVNLV0NwUVFrZURTWThNTlQ5VldlOGRVUEhCTlVmNm9qdnZLbGFCWGYxem5vcS9KR2ZzbEc5RSsvK0ljLy91dHZpejMxd2ZqTmNEcDhVUTVmNzJGNittVytpbVVIOHg5Ny9PaCtVOUx0RDA2L2ZEMUpMOGN2YzRLajhlQkNCM3VxMVgvNzMzOHZ3R1MyOFRYVm5oOHh1dXJWcjJydEdiV21lbm5JbGN6WVZZTW9Lc2ZsNXZTemYvdnVWMS9YRGlGSkppZWJQSXh4dlRzeTllNnJWeHpLaUdUTU5NbmltSk9KbXJTRGREem1lVlhobEZRYUs1UHpYNDhlbGEwbFlrSU1odU1YWXAwR2VjdWZEV2VEMFhEMjF0QjJFaHJiVGdKRDI3V0pSMmNjOE0rbDd1NWtiYzEvS3lLMWx1VGYyWFFMQ0I5Z01TREZxY2QzQkk3N1RwUHBOTy9VSDcvNStYZGYvN0xlcGNsZ1BIM0ZGK2o4dmxGQytpQlkzRlZLSkE4akNDQmRwTmdidjlhQlJwbDIvekREdUdoT0JDaFNKY2pGVkpPWFQrSThOeFVqSjhIMFZ1L1JQSEt0RU12Q1lrNFdrcWlXQTJtMnk5SHdRZ08vaXpRZCt0N1JNWEZYd3QvK1lEWllhTlR3eFlPWGNwZzFWZkRkc0NHZHJ6ZE5pYnNIaHlsZnlOUDVndFRuYk53UFo3RFlsTlRNQ2VhUEVwbXBvZU15clEwVGQxVHRsamFoWXF1eXRzazYwbVVUTmVQbTFoeXNtb01kbWlQUG5TZVNuWmJXckpSaFJMV1FySlpoMlFJdSsrUFV2dnhUN1N4OE5KeWV6bWY5OU1XUCtZWW9HaXdYL055VW5zdXhlL2ROb3BuTThtdC9rZ3Z1dlh1TFMzQWhvOW9vTStqeG84dmg2WmVQQmxOKy9DR0dZRXdYa05RQ1RqbEtSOE9YV2dZWEI4Q3RWOWsvRGNQSzhoYVgvempScGhTcG55VjZIVVNONkdBZ3VjRng0a3hQOUVRYzRNUHhhNmx1QVpUR0FXc3U3WEF3bXlXVGNiWkphTW1rOG1Gdk1rbC9LcW1DSER3dTdtS1MvTzc0cFR1eDVBbm5tSTMza3JqS2Z4akFpSWdsVzV6TWZPN3p5czRHTHhPeCt2aTBUbDRKVkFzcFBXM28vMDVlKzhJZ05nN1ZyanJtbTRkUk5JRDNYYWdHOUZ0U1F3RzdPNVZwV3p1bk9YQllXQmNTVGRRRStHUCsxOTJ2WnNuNFpWNjFyblZOaDM1QlVEdjhiVHVkekZFRkJNaTRtUlJaREFpaG9MbnZmTmJYc3JUWWU0dDhjOENDN3pHQ3ZlQVlBc21OdnhKRldETFhxNjJVb0xoakx1TDRxNW1TR0UzaW5LVFU0bzJ5SEY3bi9vaEQvZDZ6dmRId05SZGdEdmpXbUV5VWZrak5MTFVWQ3NGbjhPSm9sbkpvSDJsbmlpeXd0dDVpOFY5ekp3N09CcFBCS2ErdDkrQzUycXJkSlU5YjJZZTg2TmVUd2NWWlh2YlJoVmlnMlNUTitpck95UEhMZThQSmRDWnArQThoL2VWL1AxSHlvY3c4T0UzMkU4N0ZwUHk5OTJvbUFMUmhRaXFoY05wVGhaSk1sbFNIc3VBanlhWEhwcjJ1R0tPR05KbCtjZEU3VkgwOGVONndpR3YwczR1Y3NKOU1PUitTeWU3TzdNSlV3ODVGVXpLZlh2cldxUVE1dFJhMnM3a3M2a1B0T0w2ZnBPZkpiREpNRm5heExPV3Ryc3JIcVR3V21tSHBZNmtCTlJBY2pOSnA4dEp3bUQ1T2hZckdXSVdRZmcwbFBFcmZKTWRwRXp1ZEVhT2tkb1Zra25pbnNXWjVvcTYwVFEzTTJXbXN5S1VKaG9WMmZaVTZjNzlUSzlZMEk3UTE3KzVvMWxqeHNWeVNHZnF3cWhyb0RWUTFrTmlyR3VwVmVGV0RyazFlMWVCVkRWN1ZVQ1B5cWdhdmF2Q3Fob1lzWHRYZ1ZRM3ZwNnJoSUIzUGhFZWJWellVQkY3WnNKbzJlV1hEYWx0eGs1VU43QVlxRzhMSXFHeGdJU0JJVTdaWE9IaUZnMWM0ZUlXRFZ6aDRoWU5YT0hpRmd6YUxWemg0aGNQN3FYQTRuUXhudzFPdmJNZ0l2TEpoTlczeXlvYlZ0dUtHS1J1eWtCRlJmSzV5Q0RVcWh4cVpBaVRWVHpXeE5SM3JCZGN5dUJkUktBL1J3OGZIejIvenpaK2ZZdURocHdmODUyM1pOaGdRY0xqM3BQWTdFMHJBYzN4bjRkc0ovdUNERHhhaFdCa3dqTE56bjVkNHNzWUtPVEpXM2hiRTFqODZWeDB0cTROM0ZyNmR3S2JxSEh2WHRUb3VFMnBHMVVYTkZLdW1DYzVzcXdsZ1VqdHRZd0JKekdDeXpmSnNKeXJiaVZFWEpXanZQOTE3MHI4ZGFQaFVRRTFNVkxHM1ZVdStMMXIxZ1JhNzFYMWp5anduSXM5SlE1NEt6b3hwQ3dYV05wUzRVbmJhV1lkVmRsa0dxV202WFZGcTJZbGw3NDRIcjB2Nll0SS9sOE9zblg1WkJsak5RSFVaR2pScFFrbFFJMnNRN2VQWUx0YlhRaXRMTmwrUlRONVIxTVo2OHBxb1RTekV5NHZhQ3A3WFJHMmh1NU1oa2pBWHRBT054bGdXOVM1TDJhaWpsTTBuYnJuMmp1OCtQLzdzUWYvNGs5dVo5S2paMUlzaUtoZVBoSE5sZkhMM3dmMVBqbDBLYVNXSWkwdEphQnlaS1JWcTBldGJKRkZsRXlTeDJNbVdGcmNobnN2dVpXMTNXYnUzLzJYK3BVR1RXZFRtcGU5RytsTDZmaWtqQzNyVFU3Rkh2bk5DZUtNSTdTeUVOOHZZNnhmQ2w1VTJ1MG5aOFVxRlhGZFJUbjR1NHZ6VlJUdjhnQjdKUDRvclVsNlArZklURnhTVlZ4aUlXNHlxbU5MVkFCMWZqd0dhYVZLZGpNOXp0M1FWaVhKSUtHcEU0dTN0empqd0p1Y3VKbWM3Lzd5MWVkVzhXbytobVFYdmpaR1p3dmZBd096dHh1K3VSSHNOZG1QTDlsRGtXTGZaMkxxSkZsbFdaVEhHZ1JkZ3ZiSDRHc1RWSDEwbTh1TE93WERTUVZydDJJamJqNDZPSG4xeTlNRTdKeTYvVHpacmg4M2IyNnZYVXFrVDU2L1FWcjE4ZTlaaXB4Wm54cHJ0MUhGb01lUEdjM2JWdUxTcm9qc0wzMDZReFV3dG92VE5odHlWVkppYnFXRVhNenpVV01XN21xbTdWcmUwbVpxU1ZsWnFtTm4zVjJ5ZWhvaTBOazhURkdSV2tuWUdhbUZVY2pkUWg1SnU0MnpUc1lOdDJtN005cmJwQ3B1OWJmcnFKWGx2dlZrR2V6Vmp6b1BMaWJWV0RFZ2NHelFBYXQrTEFvQ0N3R0FTMzVOa0FRaHdaSkR6OWlVVmlnQkdWTDlBVkx2endrSm1xTEl2cVNnRGpBYUx0ZzVKc3RQTUFTZm1JQXhRUkF4dHlOeVdNQVFSTTNSSWNpZmsvYUVHVGl2bXdFQjRIeGdncUdRT0pBQXhhdkErVU14Uno3QTBLZmM2TW9jYUJ2cWtnQWRtbm1BRWNHQ2RNTHdjb0xzanVteXVSQUFZUUJOLyswVlpEV3UwZ1NGWFpKR3NQdGJTaVA3dmpqaGVtQmJJSDJtUS85RnNNSmtWand2OC9tZmYvbWJWSWJHNlpDZVRKQXMxeHJuU0pobFFDMVpyWlpXa05pV250MG9hclpKMi9ubXI1S3A1dGFidzE4Q3NzTGc2czZSNGdFcThUTFFJOEVSS2ZkcVNVbTh4bllsOTdrVXl5bjdvZXBxSkdRSXMzN2wxNnhZSEQ0SFphbEE4bXRLd0NJcUhNMHJoYWZFMXNvSmF2RElpQ0o4ZTlac2ZZZGtSdld6c2ViRkNjTjd6L3VWa0lKVFhSZStMRDJZT2ZINzJ4WWVmbjU5LzBmdmVUeTdUMlErU3N3K1RjL1huRmJIRTB0UEs0c3Q2K2lTWnBwZVQwMlJhZExYOFl1N3JEeDI3WkNaYnZtZnF3OEtrOW1aemJ6YmZiR0Y3U2JNNWhWMWR3WmNKdUxhY1lFV1dkVnZPclFkOWtXVlZsdk81ek41eTdpM244MlBVa0NiVE8xd2h6NFdQRjRQcHUrZmpmYk9OMWpZdG9kTU8xVlZwNkw1ekdqU1hNbjNQa2k0VlFBZ0JITkg4bWd1RTFBL3ovbnRnekdob2NkK2thKzJvTW10blozWS9iSlIrTVFRTUVwVGxDVVAxdzF6UHZvWDlCNjFhM1Y5aXNMcXJJZHZOUlhjbzBhcnIrOFlSc00zVFpZYXU3OXFiemh4ZXlaWWp5ZmVXWFpUN3JZYnV3TkxxL2hLRDFWVTc3QmhtQXZHNndreklvbjJpZ3JBakNoYk5IRzVhWGNpMGV0c3lTRElrWUJHTVZRRnlDRUdiTUhHQ2VIbGV0OXRCdCt2Q3daVnJkeDFHdVd6aGxlaDNoWnp2cE45ZEhiOWFhSGhiOFV1dTM4MVE4dnJZRTY5RTgwcTA5Y2FlT094Y01rZmxnR2RyMEtBNWJsRkZKdGZOdE1pMEFCS1cxcU9wV3IwbXpXdlNtc1o2ZlZjbWNLalhteVl6cjBuTENEWkRrK2E4aWJvQkxFbmFNUUNrVll2ZW53QVFSOTUzQ3dGWngyeTR3aUFRc3ZZZ0VDWG5HK01rSUs0SEx2RGZSZUFDdWJQdzdZUlk0a0FRREVGa2pwVllUWlY1Sklqd01sdzZFZ1JwUWpNYUEwOVUvMmdzbjRCWU9ockVxY3FsbzBGd1B1Q084U0FFQW9Zb1drdElTSVFCb3EyalFoQ09BQk02dGRaeElYem1oVzJVVWlnQUVVUWJjbkZoOVI1Q1B2bDljSWdQRHZIQklaM0I2dnNYSE1KQUdFT1Q0NzFTOEJQQWdzZ2dKU29qTDZBUmltS2JzejhGSE10b1hrVXEyeTJyQkJ5TmhJWXFNK3NZUUNqU2w5VTlOaVFDWVdCb2dUb1ZRaEJBYTJRSVJJQkFaZ3NOZ1JHSW85Z1dOb013Q0NKc0M1dEJDREJNOWEzdnpCbXNzd2NWSkNkVnBHRG1DeVlBWTJMakM0WUF4MHdmQWFUYW5KVVZ3OUJtVDhVTVVOZ3dxamNoUHFUUUJ1UmlnZTZOOWllOEFRT0J3RXJ2Mi94RE8zd0lrY1ptV0xtdlZXUDFjN0lvSXMzOFhjUjBKdlRHU0F2b3h2ZXZOa0c5SGUySlYycm9jK2xhQzhPUUM5SVRjKzdkaG5wck1LM28rYkZKOE91NkxCMG9hbXZwUVBFYUxCM1dEYVdXeFhYdEZabm10cTdscjRvbU4rS3FhRVRaOWRzNUltL20wS1F2YitaNHNuZS9ONUdJNTgxZzVHMGRHY0ZtMkRxdTUyWm8xNzE3ZlphRmRrMXdPRG5XYk9tNC9oYXM1Ykp1ZzhSeWY1SmVYdVRTaXZhUjV5UzlLRVdWUC96dWR5MkZGSjBzVVlJRnVtd3NPNG1NOTJ0VFRXcFZ1eHkzVVMxZm9YUnlWZDZPNlhnMlNVZUxVcEQ2bmh1ckNpbW9VZml4TWxLU3FtdmJsR0ZDamYzM1ljUHE2cjh0UitpZXRKZkpob0lEQ0JadEgzbU9hdm5WSEl1bUQ5WHkvZVJzOEdhWVhrNHkzVHVmNWc4ZUh6ZTB2VVpNek1RSGcvRjljd3p2M3VXc09FOGFTUHJENmVERktEKzBSSjhlM0h0Mis4SFIzVWVIeHlmRmF5dDNoTUxpVHBNMVlpZGpRMTJxWEJ6MXF4V0g3U3RwNVY2dkxTYm9WZmk4WXZ0NXVGcFd0WEI0YmNFcTZtODBXTXpnYnpSWUgwdjhqUWJlR1h1ak5JYmVHWHRUbnJZakJwR3FvcFUwQmNHMjBVVEM2a3Q2TlhocWVQK3VFRXd5a0xxWSs4U1F1M3BkYXBlN0RLQy95OEI3WURlTlhnZmRYbU13WmZtQzg4SkFHaGQ0VFh0UUFzMEd0NTF5a2VNQXNCRGxNYVVNWWtJVWxtM290V1hoMXhkOUJSbzNOS1I4NElNQXhuQWVZc3RpakVKbWFrY2J6VVFsZzFyVUZHRE1vTXV0QXdZMVJaSGVLQWsxYW5ybURaUHlvek5ZVVJVN0F4Wko3Z0JhVkpzYmdZdGlvZ204RkJRMkFGTVEya0JNUVdnSE1wSzBIWmlSV2RvQW1wSUZqcUJHWmxneHNKRmxOb0diU21MakdGcEFqcVN4QUIxVmphR2dKc0FqMHhydEd0VlVuVzFEcHR2c0d4bVIyY1loaVd4Mmpxd2tzNjBqSnpMYU95U1IwZVloS2VSR0U0RW9ZTVZWQXhpRzFxc0daTjZLMDYyaG9jM1dFWmxzVk1hWFRVUXhnQ1FzN2lGZ1lZQnQxb28yYlRTYkJNenVYR1VqSGRSRzlZWkZJT0FuSWM0NXozQWdJaFNNUm5DWk9mZjc0a3pJTGU1UlRDbXpYWWNoTSsrN3NFVDF1MjJubEhjWVA5SmhsQjkxSEY2RTFHclpOempUeVhUSFdkSjZBTVROejFGVVRDdk1DSTZ0YlYzTlpPazBvNnNReXViQ0lYUHR0V1dQdWxJb0JBSEJ1YnQrRkVFbTNqaXgxM2JRWlg3MjIzWndWYk9ueXpiWXJyMnJtVUZPYTNqWmFTNHpxMWtEWW9Sb0RuaGhnQkZpempPbzlVUTljTzVaZjhrWnVxcnA0czcrSmJiNVZjMlJkUjd0a25MUG1YSi95Y05COWJmTFRPeTdnUUNEUTdmT2dsOUxtTk1DMXl6NThrdWo5QjExbHI0UkJwaFFYTWpUQkJ2bDM0cTJEWUVRRnRzQ29Yd2hrZXNReENFRUdNVjVIajZvTkk1Y0JYRW85aGZiNjBTVlhFV0ZOUGJTdUpmR3ZUVHVwZkVOazhiRmt6Nklpd05NN2VqaVp3RDVwcDRCRzVlVDIzMS9rM2tzSXJvcjFoQjdNWUc1UndTSkk4YWNqdWVXWUtNYmY3THd1U0JFQVNvT0hJeXNWNlVxVHFqTU1BNHhLVElqaHVJclFTR3FDYTdpSlFjRlFad2ZqSEVja1hCZDgwZm1VeUY2SE9sR05LODBEQWtYYXRlZ2tsaTJiLzBseDM1bGc5SnBoVlRSbXJ2TXZ5eXZWREJsQ0JpS1dER2VOR1pPY3VOQmw4blFiOXZabFEzUGxlKzhNdDllbDAxbGY2bVpjZEM5dC8wbDU4ZWF4U3pwS0MwOGN4WmNISTZTRVFjckF0RG9qMm1WTmNNOXo3SkkwNTFhYlF1RnQ0Z3hSYnFyWjFZV1k4bzAvVmxCaUNtQml4QzA0cjROb2VWNkVEei9FT3dtaFpqNlVFMGZxcm1nY0ZsN3FHYm1BM0Rka1pvT0s3T1dxVXVzSmc3bXdpM2Z5V2hON3hIMTdnVnJ2bEJCSlJNZnA1a1J2TWR4bXE0YjkvckNORnUxNFBwakpLKy9CVmNkcGJtQStkZDZyMHlvd2Q2cndQekdrRTBXUkRiTUgzck03ekYvU2VReC8xWjJSZWExWTM3N3lxeGw2b1Q1UTQvNWl3STk1cTgwWXRNeC8rVTA4WGcvSjNpUDhiN3JwcjArdk4rcUJkZVB0cSsvQmRlTzkzVTNzNndNNzJ1dWFGMEYzcWNVR1M4SHA2Z1J3Q3Q1QVcwdzN2ZlhTSG81eGNzcHJuSkt0Qmx5aXNPT1VzdlVSVTVSZFhrNVJSYm81WlJLSXpaZFRqbE4rVmlQL1hOWk9jRjdMS3E0N3R2ckUxVmF0ZUQ2QllYcmI4RlZpeXFMYjJHaGFPMXZZVkZpZXllS3pqM2FSTXRIbS9DZGhXOG4yUElTRnFhQjVaV29sVlNZdjRQRkVMRzg5SVhtbnQxQ1pYWHd6c0szRTJoOEI0c0dsYWZGR3Q3NTZscmgwcTlnUmJqTkcxaVFWaDdOV3VVTFdEVEtBVjJiQjdBSVV1OVl0WDcvaXJSN2t6MWNlQzVySXg2LzR2T3EzZU5YZkFyNXg2OWFpN0wrOGF0Nm1mN3hxeXJCQmtKUGwyZU1TQURDZ0JwZVVzb0FGd2dKTThqRUtud2tCREUwRUNsbmQwQXBSZ2FSUzRVS1V4QVpIb0hLSWtGZ3dJaSs2WjJmZHlJSW9OajBLcFBTSHlES1R3VGJ5MWVFSDVZUk5MemRwSUthQ01BUk04UU1IbVNHV1FLdHJJRUJCRkR6ZXBDazZNb2FVKzBuSlRxdzhDUUVWbzVBR2dCc2VrdE5jb1JSRWFkaVl3aEZJQ2I2Q20vaWsxZENBbHJqazFkUWMvOTU1VHA1VGFxVHJZTHByQndWRk1jQTFYbEZWUUFidFlXSzE2NlVEOTlSUzRXOVk5NU80ZTBVZHNCMVhjOWRaYmNLdFRCVVVMSUdRNFYxTTZsbGNWdDVSWmE1VFd0cEV3VUt2WUhDR3lpdXdVQWhIS2w2MDlsZ2xpeHZvK2pZaE50OEIrM05MaWZqRDd5WkpDTjRqODBrenNmR0dsL2FhdFVFaDBOcnpXYUs2Mi9COVJ0S2NMQjJRMG5ZeFpDQU5YcDltNkdrb3luQnZjcmNWQkpHTmxNUW03UE1zTEk2Y21maDJ3a3hta3FJdU5QRGFBanFXdDNTaHBJTXpEa2FTclpKdUI1RFNVaVhNcFJFY0RsRENZcGFHVXEyRWQ0WVM0bmQ4SkZQUFoxcGhYbExpYmVVVkJJMlEzRDNscExWb2s4WHRUZEdnQ0ROaFNyMXVyY3hDRUtET1VVWlNpQWdOTENwdndNUVlCeUdwdExVZFZvSXhFR0RzbDlTOWJQU1dFZ3BiWHI3cUtOUmdJcDdxcGhCVU0zT2hRQ1F5S1MveWF6eU1USEo3NUk5MjB6Yy90WFFIOVZ1V1ZnTUtEYVpHaVIzdHZuSlFFblU5RzVMVitZWXFqOHBZWUtaS3pRRVFRUk5sMmNxRGtlQVFDdFhSR0Vrc0ZsTnRuRUlZdG93QVcraTJVUmMwWDd6ekNaaHBIbmR0eExnb1NuM0pwaE12UEhCR3gvbVMvSEdCMzBXYjN6d3hnZHZmTkRsV1oveFljQTNVMjk4cUJKNDQ0TTNQcFR0OGNhSFhxLzVZUkNNTktMRzRTUTlUYWJUSE52ODhadWZmL2YxTDl0S0dSck5WUVdzTUUycWs1U2hPN1FxbXVOWWs3Y0tNNElXVWdZT3JrN0tlSmk4U1ViOXdXeXdLQnU4ZUNEM01vMzRkRytTbmplazg5bWpLZkZxL2Ivcy9GdjAvOUkxQjIzVlg3QTNOTWM2dm1YcmRNS0JVM1B3MXZ3ejg0M05rVmpKc2hldWxsZGtLMWRicjVKWExERHVrVzM4K09hemZ2cml4MXdlRTQyVlNINXVFcy9sMkwzN0p0Rk1YL20xUDBrdlNrUEsvS0pieU9qK0RrNkxOM0JjM3I4eHZIM3pIaXNDV2hoT3VyOXRjek9zSjllbGVYRFlzMlNPMm1HK0JzMkR5L1pVWkhIYlJJc3NjNUJnYWMwRERyem13V3NlcmtIek1Fa3Uwb20vbGlFbjJBeVIzM25yZEFGVmtyQ2pOcUJWZTlhaURWaXA3THVxU3AwNDMwMEpzdnFaY0lXdWlIanRyb2dSN3VDb2h6V2VjOVk3RzFnSUNMSTRJNjZtMHR3WlVicjNtUHFJNTN3ZmNjWDNFZDFaK0hhQ3pNNkl6SElyUmVmcWxyKzFJV3JqakJnakVWK0gxdUdPR0lWTE9DTkNERUtJbHJtMmdiUlFOaEVHVUJTeUZocW5LM0pHMVBzVzVsTlBrd0g3YXh1OE0ySTFZVFBFYWUrTXVBd082K2FNU0FNUVVHSnp0NlBpd1VqTmV4QUZWWDV0QXd0TlRubktzVXc0RUZJT0x3eU9odm5WRFppYVBBSDdXWEVRUThiV2RVZUJ1TDRodERscjRoakVzTUhwVDFKSi9qQUNRcDJUVlVHbExpdEFBQ0xyWlFVaEF3MjNFRWdhOVhZbUFZU3VqVEcycXo1eWtHRG1TUlR4M3BxbzFKVVdmQ3BFSmkvRGc2eXNnQ0hEV0VtdWhCakVZYWpYYnR3RVYwU05OS0I3WG1hMTBnQmhFYURpV210amNGSUlCRWNPSnVsMGVqaTdIZHdKN3dRQVFXc01FbVdBWVdhR3hxM0t6dkU5b1h6RnhaYVFxb0RPbGN4NHlVRVltNkU4Q2VRVkU3Wkw1cHhLWGhxMWJ3dmdpeEZxZzkyM0lXUjhtY0IxZ0hmQ0lHQ3NQWDZQSThBQ3RnUiszMllnWWd5aUZpaCttL0pkQWdkazgyQThuK0l0WTRxMDE3VjVHRjloczRmeEhzWlhTbmhuWWZ4MkNDSVlHRXcySnhrVlJVRm91MlpzRzNHY0dwbHVhY3ZEaWlKRXNlWlppTExwYXNjRkZJYllRSmJGRlVGR215Si9Pc05WRVpjVEVSUDR6azRIM2l1aUNiQW95QlNISUc4dHA3T0pPcEFDRkpnWWVaQWR5U0RHdHJpcmJSend3N1VoMkdzRi9NbWdoSVUvT1hxdzhVZUU3VUtEaUpCRlhzV0E0TUE2Z1VScHBpdjBGSCs0d0JFMkRkME5CZmE2ZDJSV2ZEVXo0Z0l1akphQXlCR3pBZnZsUVhKVDJUbXdwNEZORkptekUwQ05uUUM2MkFreUNTVzBTQ2RkcStzZ0FyQmkvRnp2WE9aWmNrUExxbTlkaGdTSVkyZ1pDU0RNYkJBdEpZQklWZWlNL3puOFJ4QnRDUHp2ZHZteXYxTEF3LzlxZ29mLzd5MzhoeUNnUVd5N1Q1ZUpTSGNUQnQ3TGNEMkVITmZiMEJ2Q0FFY21wZmRCVmhyQ0hBUGIxTEtFZ1RCazdkU3lxaFlYL2pBUXg5aDZDWE1RQVpOYU94ZU8rUEVSMnpUV0VlVmczWGJod2pZQktDSW02MHQ1Q1hQWU1DZTdBMzhGSUN5c3lUQ0RoVGN4Q0FNWVc2OWo1b1ZSayt0aUxyREZ0a2tqU3dwdTdyVUNkMGNjT1V3THVLOTdpZVZvTnBqTWNxRC83ZTkvOXUxdjJzYjU2QUo1VmhEbW83djFvUkppekhjSDNjWGh0YmVoZmFqUE94M3FZeDNmc25WWEVlckQ3QTUvMXhicDA0SlZHeFBwY3poSkw1TEpUQVAwUkVwOTBwSlNWVEdkaVYzdVJUTEtmdWc2bW9rYkFqVGZ1WFhyRnNjUWdka1IvOWxnZEdrQ2h3L0diNGJUNFl1cU9LdTJheTMxMC9GUVZ2NzBxTjlZN2U2TzZHVmp6NHYxZ2ZPZTl5OG5nOWt3SFJlOUx6NllPZkQ1MlJjZmZuNSsva1h2ZXorNVRHYy9TTTQrVE03Vm4xZkVFa3RQSzB1dnVQWm1tbDVPVHBOcDBkWHlpN212UDNUc2twbHMrWjZwRHd1VDJrZWkrVWkwelJhNmw0eEVveEIxakVWek9GUmxoaldIb2ptZG4wV1c1VVBSNXFMSmZDaWFEMFhyYlg0bzJubHluazdlK2xDMGpHQXpRdEZzbWtLbi9hbnpYYVRPKzZaQmV5blQ5eXpwU3ZPREFjRXd2ODhaSVJ5Sis3bk51KytCTWFQVnEyQTlXalBYWTYvbFNiT1hhVUlwaS9LK2hpR0RCTm5xMmJkdy82Qk5vL3RMREZWbmpyYWNpYzRvb2szSDk0M3N0ODNSWmNhdDc5aVh6dXhkeVc0anlmZVdYWS83YmNidHdOTG8vaEpEMVZVajNNNTNRL2V3M29xZHN1TU96Mm9qelN2WCt2REYwcUVEMGRnaFJITWxsUll1M0ppYSs0aWp1WmpKYU5IMW92TE40dW1ScTYzTllacGRxMXplMjRPeVZyN2VtQUVNRVZ1UHJ6ZHU3ZWFCQ0FTSXhjdTRlWWhYNnQxOXZHRUVvSWg4MlFnbmo2Q0xrd2VmUjk3Snd6dDVsQW1ib1cveVRoN3R4YVRPVGg0WU1HUU51eE12SXpCS0RKYnozTWtEeHhFeU9md3FGOTFRUEY5dGMyU1FZVTNNN3Ntd0RRbWdVWU5adjdzckF5SUFrdERxdzR3eGlHbHNkV1lJQWNhaE5WeHpHekVRUXBPbndrSGU4OUFVMVpuNWVFTkE2YnFlSXQ4Mk9lR2MxQUNEaFRXY2d6UUlyS3dScFRHVDQzYm1CU1BpWWdPcmY3Y29EYmQ4V1dPVG5EMFdaUVN5L2hmbGhKZkcwdmlaYU1Dcy9yMjFxb3pRRVVHN1YxcklDTVF1QjlWOXpJa0lIcVhtcCtPdzhBWnI2N3plVVBEU2dCKzN3dnVVZ2hDSDBWcmdQbG9DN2tjQmlMUDMvdHJCZmRnRzdhTVFSQ3lLTncvczY3RjdQc21jcFFNUDlpdHM5bURmZy8xS0NlOHMyRWNjNjVnOHNOVVJCVUVZWU51MUxPTENGV1NDZnBsVExvQnhnNU94YW5WZWxuQWFNRU0xeEZzZk4rQyt6aWdXVWtDUjFaZWJDamR0RzQ3bHVCT2FuTFNWUFFDQ0FKcWlWeVZqWWtDaENSQXJmWFVFQ0NacjhuSEhObkNmb3dNelR4Q1hRRXhGNWZleFJFMGU2YXJCNnZ3SG9ZbTkvYnhWWVhpelVIMVdwSzZhbm5BRGxzVENCVUdFRGZMZkhEcnk2bUwxUTBGNjRSbFFrRWsvQVVVRUErR3VsSmJ1clR2dEtwSFg0T2xyb2RWYVlMVVdhSzlGK0dTNGRDV3VWb0txbGFDMmxSaTZRanAxaFRoMUJlSnFKYVJhQ1dsYmlXdFgyakpNYU1WZFJvVjJtV0QxU3BxN0FsR1hVY0Z1RTZ4ZVNkdXVZTmNKeHJxTXZiaWQxV1ZVV0tldVlMZXVZTlJsZ2tucm04T29oR1VsdEt3aStEajhXTjdTMUxZaXQxMnNWaFA3V0NvaEhXcGlyZGZNUWtVUmMra1NjMXczM2VaQnZNUVcwSG9heEk2VExlclNGZUsyQmRRcmFiczRpZXNXMERUKzVHT3A0cWxnZ3dvYzJOMDVITHdXT09IL0FWQkxBd1FVQUFBQUNBQ1pZL3hjSlBEYitEb0FBQUE2QUFBQURnQUFBSEpsYkhNdlgzSmxiSE11ZUcxc3M3R3Z5TTFSS0VzdEtzN016N05WTXRRelVGSkl6VXZPVDhuTVM3ZFZLaTFKMDdWUXNyZmo1YklKU3MxSkxBR3FLYzdJTENqV0I0b0FBRkJMQXdRVUFBQUFDQUNaWS94Y0pQRGIrRG9BQUFBNkFBQUFFd0FBQUhKbGJITXZjR0ZuWlRGZmNtVnNjeTU0Yld5enNhL0l6VkVvU3kwcXpzelBzMVV5MUROUVVrak5TODVQeWN4THQxVXFMVW5UdFZDeXQrUGxzZ2xLelVrc0Fhb3B6c2dzS05ZSGlnQUFVRXNEQkJRQUFBQUlBSmxqL0Z4MzRRTGR1d01BQUdNZkFBQUpBQUFBZEdobGJXVXVlRzFzN1ZuTmJ0TkFFTDRqOFE0cjk5d21qbU03bG1LcXRqU2lVb05LRTBFNUdudWRXSFhzeUhGcHk0a0xENENFZW9BYjRzQ0Z3b0ViZ3JjcEpXL0I3SStUT0Y2SDlFZU5ncng3aUQwN3V6TTczOHpzZWxKZlArbjU2Q1dPQmw0WW1KSzhWcFlRRHV6UThZS09LUjNGN21wTlduOXcvMTY5M2NVOVBJQW5CSTI5b1oySHBxUm9FbnBzOWJBcERWKy92M3ozV2VJc1k3YXQwQThqeWx0VEpOVHFXazU0YkVvckZibE1Xekw5OTltMzRjZXp5ZWwwQ1RxN1pWTjVHN2FOZzdnS2sxMW9PdFlOaWROVVRyTnRWVWxvR3FYVkhMdnN1Z210UW1sVlRYZGNuTkJrUnNPT2Jxc0pUV0UwV1ZWdExhSFZtQXhzT0xLZTBIUkswdzFEQmhtbGVYVlB5MWNGc2pUQkhwbnU1YkppR0U1YWQ5ZlZhcG95cFh0cVA3VkpQVk82YzV0TjZsNHZqWEhMb0xrTkZyRGpLZWdEZkl6b3FKekJEL0R1NDBZWTlhd1lQVG55N01PbU5UZzBwZFVNSitWdWVMN1BtZHVuZlZpNUZmcWVJMklkR3hnOTVSc2hUVUpqM2NHZE01aXcvWTNGaUlaM3ZRRG5qbzQ0bm1HdjA0MkpjSGxOZzZZTFpZM1l0NncrNFczNFZqeWJjYytLWXh3RjFNSmkvU25ySnU1NHdVWVVoY2VVRThLbzViMENnMVh6cDJ3SHp0VW1VRU9BcWViQmdrNWdlT3hqRnhBeGFKTTRPaHJ0YVhSVWxnMWdaYldjcjBRcDBVS0k1RXlzNnN4WloyUEpFaEpxaGtRUnNSNzEwb3lGNnFVSkYxK0E5N2U5SUliVUNuaUs3STVwbjdiN25VUkZFUStwL0pUZzhtOGs2TlRDN1pmVDdaWEM3VzhaSWJwa0VRNVh1QU1WNlIwdCtMcWpWRWpQdSs0WXhYVUgzU3p2YXpsWnhjR2tMeUx2VjlZVTBvcW9tQkVWcWs1NlhsVG9SVlNnNjBhRnlOcFZuZlE4YTlmeWRsa2NFM2NYRU5lQ2lLNjUxQUhSQ0lONHVybzBaUzFtSDlrZ1hTeDltZmhtM2N0dVVTNEVyOEN5dkp6SHdCSlVaNE1BNkx4Q3ExYlQxZHpMOHk4WG43NmpiRmx2TkkyVk4vK2pWREhqQ0UrbGl1b2NFMjcwNVNRblZ4eGFKRThCbjBvWWxXWE9FdmwrTktwQ2M0YU01N2J4Q2ZqTmh1OTFBbFBhd2dHQURvWUJJaFBGRGxtd0hDMVZKMjU5OGV2OHo4K3Z3dzl2aGovZUFyZjFvaFdIZlpwcXN4NCtqamYrVDBXMndOKzFJc3NHd2R3VlpDTHVnRXJsNEt3a1plbUcxZlA4VTFOcWVuWVVEa0kzUnMrdFI5akxycmtIUzNZaXE5OUZmR3ZnYUR1QnMwL0NoTGxwbndCSGhKWHB5QzUyMlFBOE43eG93RjhPUklqVW0xWUViajlBYkJJc3pkZUZwell4QlB4dWhuRWM5a1JISUUzY0RLamRnZEJweGd5SVBES2JUMjhaUVF4M3FKS1VQYkhjUEIrNE9VQXdmeGtMTDFRclZGc1cxZVNVYXNKdmdzSnFDMVJ0Y2lpZDlmZ0pSWTRjVHVVVWVPTlA1QS96djFCTEF3UVVBQUFBQ0FDWlkveGNRS1hWelVrZ0FBQVpJZ0FBRGdBQUFIUm9kVzFpYm1GcGJDNXFjR1ZucFhsblZGTnB1M1lRRVVFUmtSS0trRkhwaUl3alRVUmlHVUJnSVBRcTVFVkZTb1FNQTBpUWtJd1VJeUJtcE1nSW94bEZwQWtSSVNBdG9TUXd5Q0RTbTVJbUtzM3NiUWxiMDA3bW5HKzkzNS96NDZ4em5yM3VIM3MvWmUxcjMvZHpYZGV6dG14T3hvSHQ5blR6Y0lNcEtDakFldVVYVExZSU8vM1AzZitwL2JQSS8zVU5CVmt2VEdNN0xBRjJXMUZoUDJ5TGhvS2lob0tNQ1VQQVlBcEsvelVBOXYrYXdoYkZyVXJibExlcnFPNlFENkR0aG0xUlVGVGNzbFZSU1duclZubHZscndmdGxWRGFjKyt3eWUzYWZwRksrOVAxdnJoNnEzNzJ3K2NhdTdUOWg4SGpJK2MreVZiUlZVSHJxdW5iMkpxWm01aGFXdG43K0I0MU9uMGo2NXU3bWM4UEFNQ2c0SkRRc1BDejErSXVSZ2JGNStRa3BwMk9SMlhjU1VuTis4YTZYcCtRWEZKYWRudDh0L3ZWRHlvZWxqOXFLYTJydjVwU3l1dHJmMVpSMmYvQUpNMU9QVFg4UE9KeWFucG1kbTUrUVV1ai85bStlMjc5eXVyNE1kUG43OElONkd2My83QnBRQlQvRGYwL3hhWGhoelhscTFiRmJjcS80TkxZVXY2UHdNMHRpcnRPN3h0ejBrLzVlaGt6ZjAvWE4ydWRlclcvZVkrbFFOSC9BSHRjNytNcStvWTIzSk53SCtnL1NleS94bXc3UDhWc244RCsvKzRGbUE3RlJYa3lWUFVnQ0ZoVXFuNWd3TFkveVNzZURhTFZreTAxZ0hRYkIwRFVMbGtsZ3ltaDFmRExpZ0xIODY2Nk9JV2Vlb0RvNHBjOSt2T0tlYzVnbDJFSVJtTVZqNTAvYk1NcGpZQTFuRGJXUXpZM0ZnZE5NbGg1Q1NtSFpPYzdxMmd2WDlwRU5JOGFUcHBZMU0xMVVoNFRiM091RVRkSmZZdFlWS2FxU3pVTmVSMjV4aHdtQkVyV0NnNUMxSDRXQkpiM1U0R3l6TkNnS09iT2QzdUlvUjBCcTNBbjNKMmNCaWs1Q05WbkJXelhPN3dVVVZHYXAxVDYzYnFoaXNPTlNjaW8wUS9rUUs2bThuZW5XdTlIeVhSS1prSTdybU00NHlud3FqWjFla2VNckpkTXRyVGJ0SlQwekdhbExoekZWM2lneTJBTC9kOHplQ1BKa1VTREpZV0ZzKzdvT2RqK1hnSCs1a1VZcCtmREpiNHJFbnc0K0NMR2JTaUROWm5lNkNqUzJmbDdWbURPQU9weXFySkh5Y1JBdE9QWmVLSFh5a0puL3haSWd2ODVidGVmVEtZMGtuSk0xUFg0cmd3SG9BUWEvcTRha2FNbXZRd1hVdWtLdTlQRk8rNFhwMGROL3hhYTN4WU15ODF4dWdJU0JiK25uWE1yUnVxQmx1a0tvYWl3SVJPVkU0cTlHQUtIOE1iZ3k0N0ZDNEQ1YVNrdEFqTnpGcjJxcm9JaDNGWVVNNXB6YnlkZ3dhVEdMOGtPaC9tV212Nk1FQnlBZlV6V2YxOStMM204M05RaXJBUEpGMXJaYXRENkg0azhKTmdnWHBpL01QQlN4KzZyYmpzWFhoM0dTdzdJajc4MHNMRkZwUFJKVW95VjNMZ0ova2pVaC9HNUdhamVYZEhTN2wzT3laelJlbnZsN2FQVFJMV0MxblBhb2RqTEJ1S2J5UWV2T1pMc1F1dlY0blNTRWlpVEpmdlQwbXFhcVRhbVBCZmRXRVdQNXJBMDcrVVRrK2JDSktLaFU5TE5la050OFFCcGVjRnlDZnZtREtZcmpoUlVrQThMN2doZzJuWWJiZkRYa2ZBaVRHTWVSR1BlRE10SW1LSHRlVmlBRWdtMHpWeFhpeUM2WlQxNXg0bmcwU2tkL2FuOEdscVUvU1RKKzNaejE4YzFWbWEwZjN6cGkyNnptclpaZzdORmVRVGRrcFp5T2IyUHFJUnEyWkZCdHROZ0JPZW8xdGtzQUUyZkNWWXY2M3k4V0lFcnJ3WG9kSU41NkswWEdzU3JrU096bEFleHd1ZFhwZTJqU2NzeExCbUt0TU5GczlHbkIxUitsdmRiSm8yY01NM3REdWt4UytRM25JOThPc2UzemRGQ2I5NTZteG1uT1B4WXg0a0o2K2M5MHdYL3Z5VzRXQjhsTnJ6TlNEOTA2cFd5RHRLRWQwQzd3RjFnV3M4UnA5Z0t6NElJZ1BLL1F5RmkrUGR5RVpjT1pmWVY2bGVTUGdlSXZFRldtSjdJSjFaT3lNS0FXUDcyUVZJZGJ3Q0I2bUNTK2NwNSsyWmRlK1lVQ2ZUemFBQ1B2UFcrMjgxdWEzSUxTaUh3ZzVrTGh2d0l5b3ZKaUQzRURUeFNjQzdJUzlHQVhJTFBqcWRnOXdMeVdCYzRucTg2Q3cweWJVcHRONXdObmtBc1QxQlBwVFRTMVRHSjNQSmViUGZablB0Tm83NGcrNERGRjFjYXdKQkZkeVI0R1J5cjQ3bnJXMkwxc0FvL1hSd1pUSm83MHI3c09mREZkYll2YnRPSzUzK0pUOEh2bm5VV08xVVpxTHo2bUtWK1l2RCtLVk5xeHRsZ25pN0dLdXdMc3hvVzExcjZlM21SRnYyQ2t0N0JHYzJLTldBU3JnMjZwQ2dOMnIvQkQ2Q0k5QmFlWklnTlFLTlNCbmF3dkw2bGMzdmZ2OWczYlRmZUU4VFZZMzV3OVpudEk0Q1RFVHQvWTVyb1NWMVRlZXlDOHovM1BMZmhQcHZMc2Z4UHRCemlqNWh0L1NGSExJSE1NS1Z3VzRTVE1XbUVBaldvNjhUZGVnNnVBYStlKzVuZ1RwK0cxaXp6dWNrZXZYN1FUdjYyUHAwQll4eU9PajZic093T3FITnhSU0w4RHBmRlE2ZDluM3lERmlxTzlTVm1QVVFIOHVoUUdhekcyaE9Wc29ndkNKOXlBWXlvN0h6bkU5cTJTOGhJRXdUc2MrV2JvWWo5U0oyM2UvMnZvaldzeGt3UEJBbzN5YjViWFdBRE9ZS2tUS2F4aHdLcFlpNGIvOVFYZ3hqa3BUdmpPU2lka0dGTFBadUc3emZtcEVWTkF1UW91UlRxc1NhQUpWRU1JSE1tRXVXRUZLa1RHQmZJYkZRTzNCbzVoVjBQdDRiRUxKRDVibVV3Yll1azg4WTJRREN2SlJhakw3MlRJTk5yck9mVG1WMGJkakpyS3hET1hVc1RPTEIyMDlyUlZYZTBCaEFESjNlY0Q3K1VCd01ZZXR3MmQra1daWWpKNXRCeHJXa3RLN0c0T21kNVZmTzZ2L29WTG02WnpXNDl2RnNzTXFscEkzKzVncXRoZVJGeXdLTjNzbXFuY2M5bDU0SExldEZQNWtycUgrOHhxOWwwZnpMUEcrWHFRYjQ1bXpxNTc3VC9lVG1IeFlSM3BUa1Y3U0F1dmN6MlhpZlc4QVZEeXUzQUxKenAwVzFXWHlZZUY1azJGT0lZYmRTODJoc1Jiem1wTXNodkNvMExFOVJObExEeFJTdkRSMVg3eU9yaXdNelpiRDVSWTd5MElabUdBMUllM2VEYmdwVm5teCtLVWFDQTI3QW1ZbTBzWHo2RHo4czRVNWxKVXdJZko1T1c2Y2V0OXBZRlJkQ1lhSUxoTCtJTGJNYnArV01hZ09naHdRTE5VSXNaTWczUkFuL2dyQzhJb2Qrb3E2TG8vZ3dGTXRMUEQwUXdnQjhVSE1HbmkyZzlzMGNQa29ycnFKNktTKzlQcTd6UldWaXcwbU1TZTdtTjUrYVdPMkJWNkdSN3ZCeE52QkpCb05NeXlYR1NLR2VETWFrUVVveTJOaVdLdDBxL1daZkQxY3VRRHQ2cmpnM0ZxM20yUk8wM1cwOE56S0JaaktzcE9zNlhNdXlWdlkydmxzY1Vsb1NiMFYzWCtmL3ZWbFM1SGhLcFlzZXlvb2EzaHV5QVhJTVEvb0pXaTJTQnk0YVlqZXdwcGVTN3lmMmtOeHgwUmVIUUNTT2dXRHJpbEIvYlAwVEg3bmd4UzMvbFc2TlFXc2VKT3lEMEt4N3lqMWtEbHV1SDRaNFgxQndWZm9keHVtbks3UDlsYy9zc2lLOFo2S0I1YzBDMitOSlpVWGtRYXdxL2lKWXZsNG9Pb0FiNFZENkpBaU9YSnhzcnJJTjhaRTh3VTJHSXQyRU1PRmlDbEY0MklYVHZKQU5EKzVvU3RnTWJXd1hZWXJTSXFRbTg2MkswTUtzVHRDOXNCdk5LNlRDMTF3T3plRFJhUmtaNlZyamU2NUlzRkpWTDNrdGRvQ0hpaHFnRkNheGZXaGRqUXBsb2lkdFBudW5uNXFSd1JLdzgveWdjVnFQUVJEdDlsRGdoRjNXSWRGUXdOeHErTVhxODg3Q2RDSDhOMjlNQnNhMmJWUERZK2ZOb28vdzlYMDg5TnphQ1ltY21aT09FNFZSa2o5dHFUZVEyellZRjlYbFc2NnRpeC9IU0VEcUVhYWo5Z0tNRzQrZ1pubTZ0MHdndVRzbUNBZmtMZ1BGT2tiZUdkY1psVytXODY0VjJIYUxkd3k1RXhlS1VjODQvMkRGcWo3S3R1SWxNekF3ZWUvSDNESlZyV1dQNEtLalE1UzEwQ3ZmKzJoSE84NG0xNFEvdERqMW9QaFJqUm1xN09IdjNJeVRybDRWS2ZHMW55S1hmcmg4dHRFdVhaZGRIbVpiMHZFWjFVK1pwMHBWZHdBVm0wTURaeVROeUF1UlhnUHMzVklySEluSGVwZjNSWDNPakI4cnhPYW1JZlVHcXM3aTJLY2gvSGw1b2QvQ3ZyUzEwY1oxampHSm1uYTZka0dnWVM5VUNDb1BMa3k4c3I5VE8vYytQSFlHL1pRNmFNQllRQWpSa2tvcGNsVS9wcTJRQ0k1d3pPUnB2dUhRYVZmeC9IYUZONXM1UnFJYmdvMHY3aVMwdkViLzFEYWppY0ZpdG94bVpwZ1htT3lKUE90NEJCbkpwUlloVlBBeFZGY3VXVVhzQnFSZi8vSjEvWXZoS2JibmVOb0cwcSt6bzJYaTBMOWFwejVZMzU2SjExaysrTEN6dFppNDcyRk1hMCt6M0lVdExienlCdGppUGNmNDZENXFQaEpBWWVkSS9laGRkR3Z4RCtCbWdWaEJCSmVPZkVPUW5ROXpxRVpRQ0N0cUgrRFQvZ0MvRjBnbnBkMUZzQllPNWRXelY2TU1wbTBwdStNcmJ1ZlZyWHdicFpXOXZ0WlN3NDR2OTJWbHhqdHJkSFovK2I3TU1yamFSL1BtL3R4NHgraVY2TVhjR1h1NzFtb2ZTcXRuaytISmpwVE1vNU9sY0t1M0o4cE56ckJTd3ZxOTZ6ejlwelBONEFJSHpHRGlTdEtGeVZrM3d1L2pydHJ2S2hBR3VDN2hNM0FYQlZUa3VRL0kzUi82S1dwam44Z05CWkJaRmJHL1N2ZkpwY2JzT3VOQ292TEEwbDZ3cVJHWTViSlpJeWkxTWZVaDZrSU5oMUtRUkNWeUZhRWFUdU5GcndiMW5hL2pUeVE4V2pydTV2SG5MWGMxM3RoaU9VOTVnS0tDNitMWnNHeitJZjhTWUpKYk04QldnU2hEbE4yRTc2Q1NRVFNBR3ZVNkNjUm1kK3ZkVHpBeUFaSDVkb25JUG1KN2JLRnpXR2JNdzdqT21JMzFHYm9STU5OZS8zZHp4dVdLTk9iajNRTENNT1VqR3NtcG9Rang5K1EwUHBzZzM0N083K1VGY28vNDNJN0l1VThSbmlmU0tOSmFKR0tXdWoxYTJwN2IxMjJpWjdsbUU5Qm93U3VMNEwzbnJnWVcrekVIaTVQVFlvWkZUUkVtbzNvWVBBSnAvRzdEdUNQU3k5WDhGMUZ4c1ZmbzBiRGFOUUU2NUdKcis2dFNQOWVNYlZ4WExWK0Zmd0p0S3AyUE9nVGV2Z1UwdUVFcHdFamdUQ3VpQU5FYXdzUXFTOGVXdG9NT3BOQUJLbVNLMkR1U1dTdFgxRHYzSXlzeGZ4M3NQZzJVYzlKSkxoYjRJR0JxOW5hNXpoNkkzSGZGdSt6enVablZFTlRqQmk1bFlWYnFKUkJyS2tySEtubkswaTR2cVNyaXhGN3I5bjRCQ2IwZGlXWFBEZlZTZG9qaFhQWVd5SDJBOGNSQnJLWG9PdjRadVN2KzlyZTA2cWE3MGVDbVZLVlVDUHcxYmtiSnNLR2taMlFrWjJUWmpXNXNTTDVJNzJja0oyZGxwU2M3ckNqaFdlQUFoMGpHeC9EWkpJWStYVlY4Q25BWUlCWVIxY1Jxb0RzM0tyOVJIQWhGOGxCeTM3anJFWlFHVXBnVVpUeWFMN0ppdzNDbitmRGV5Q3NvN1dFcVhnbjZXV29BN3NlN2V6dTRUZ2F3ZEVMbzhGbXoyWVBZVmh0SEdTeFhVYW9hSklPNXg0clVaREJldC9TNERQWjV6S3Buc09pS1l5Q1lhdjY4U0cvaUQ4c0JyZVcvd2RDQ3VocDN0ZkJkaDdTcmhOUTBZOTVqYXZIYkcvV1p4Y1dsVXlXRmVZM0QyOWRHSGJ1V2JCNzFpVXgzaWpQL3llL05ERW1ITTh6UjJJaklxV0FBS0pmY2YrVjgySDZBbHJXdldtd0FKTjNzTEFoRml6MUN2L3pZNDFYYlJMQVZYNWphZDdwMkRiMjRXUkk2VUl2N3VHcDlhRFh5VEFlOElqenNOU3Y2NERmbkkrNVZZM2E1ZjFCNkVkbmZodnJqQ09ZUWVmQ2UxY3Z1UkRDQ1QyVm1JZ29SY0x5SG5PeTNKekRVblpWcmNTTm5JQytnaFpOVXVyUU5JbEp4QXQ3TkhvNUUxWWFFM09hc3JQMmgvREhlQTJ5Y2ZsY1F3Z3hmZDJvc3U5WWMrMmNjKzBTdzduQkFROWd6TzhmSDlnaDFpMTlhNnkxRHphTXRHendzbk5JMEc3Zlc2SGI0TjVpL3NQRHhzMzIwckx2d0Fka3R6RWZIdTFYVitZUWZTK21iSC9RS0hZNnlxV1Bodk9SS1R4SnJtbnl1MEI0cXZCQUJXVnZmbTJVaWR6dG44UTFkSm5aWTNYVmJYVHFPOEFaSitXbXZrU2VEc254NGVzaG02OVJQeDB1ZEx0NDlXbzRhVDgzRUlFcGNqQVoyb2dIL3NZVmxmb0hqRWwrSWtIL1RETytmM3hjVU9ZK0FpMUpWYk5MVHY1OHIzRDY1ZGZjSnc1SHZyK2xXS1YrSXEvcFFJS1pMR2xJcFpPUk9JZ1k3eitZaDF1ZEJaYTV5RHQ1TEZJc3hNcFRjSkpoN2dTMmNkMFV1Ujk1M0d1V0prR0o5U1RzRHc4aVRmZzhrNVhPSU4yVXdHRFdSaHRyWUtpY0tpazVZQXQxNEtqRU5nOUxGb2NLZkpCN0NLa1d0U0swNnRjL3hDL0xDaTV4ZHQvc1ZlWHg2Y2JoNE1EcWh3NXZsZzIrdThVejhPT2cvYnM1cSsrMVJaZkhkanVvWDd4eHFiQ2t0cFVtTENSOEpxMTJaNFIvK2tweWtEbEN5aDZNNVk1QXBXcXpCNTIyU0hzdGdMUVR6T0ttS0hLU2YyR2xjN1A2UTFsWlp0eHFsQ2syNWJNWHZoKzV6QkJwTDFhV2JWemF6QlZJam5JQVYvZ255LytEM0NLRVg1NklCbmp1b3o4NzdYQ2hDWFlZa1BBWmtvZDVybzRSREQ2VXpXbEhycnZ4ang3SDgyWFVhY0ZId0kwMlNLM1hHUmIwOWhsNUFDaXNoVjVIeldZendHNU1CK0FrMGZ5eUIzQkFGTnJ5NTFLK3BHVlV6YjhiaFAyYjJXS1JwMXM4bml0TWhEeTU3ZmsxNFVaSkQyQTRGQzRWRUdGNVY4b0R4TDJUT041ODZua1lpc2M2Yk83WU5OOW1IM2lIV1RHN3dNQ1RQbTh5a0hZOTJ0a3BJNHJXMDU2VlZ2bStLMXJucVYyWFptZnA5MlVwQUEwcmJQeTB1T0RldS9pVnFib0xGNmh2UjhNejJMMjA0NlRvL2RIbkJLeXlrN013d3E4LzhoYzBkbHRqLzBXUnJqRFhjaXNGTitmejA3Y2VKc2I5RWtkTTA2a0xUdVJhYTZDZndwTEN5WXpQRC9rbkdZM3JhMzRzUno3T1BUd3pUMml6NldCWFFFZDVZbjJCK2thdERsbGNrSEgrbXN6em9hU0Y2UEJXdGdqT3l5V0Z2N1k3bjJWeG5hS1NwT2MvSllCZWhrUDV2NkQ0dmdSNk93WE80SVhhb1lzK3R3Y09OWmJDRkNtek9wVzZ2eHlhYmVkME9qM0NrOE9icENlSWx1Y2tVZGxwQVhhTGowa21HZ2pQczBxVS81YUxFQUVzR0tEdWJ4TXJWSjJ5UXpZbHBpT3NWWS9JVEhVUGpDL2JhNVJCTmQyeGFuZHc0eEpMa0IwK0ovb1R3T0lycGRMUHdYTG4vUXFHS1Urblg5M1dCaElsQS9sUGhxeWU1ZjlUMmUycmVyVGJiM204MDg3ajA3T3FwUEs1S2tNZWc5bEd0VXU3STMyOUx5eXBML0FxOTdYdFllajcrYndwS083NWJmZmcyUmpyU21VWnZBQWVrcWxkalVrdysrdzZMVXNSSGIxRjhwcjVZRzYzYk1jU2FLVklWZHJLdTkra3pYYzJNZlAwelpiRUZ4MHB2cmlxYU5ENzNTclI5MllPQXpJZElxV1B5T3V3N2hNUXlkc1c5QzNDS0toT3BFbWJhWnRDTCtzSXVYcVRyZDhndEx2dWVONk1hb1JML2FWb1hLL2V2YzIyaXBQcy9KeVlXR3h3N3IxM2R2WHRvWkJGRDJjdTRTTHhCYkVOZHQ3V1oreVRNbGxUWnFwUFpSbmdIc0wwL2FqOTBtRWVkZC9BWWIzMXRkVnJ5R3pLR2NqWEV5R2oyb05TQk1DbW5NT2U0VGo2dWhVUE9UeG9TdXVla1lVd25CTFlyMWttSFBseXdmOGNpV0JER0tUcEl6cC9vSnd5bVlEdCtyeVJiQnNQMHFQZFQybXJXOC9tajZsd2tpN2dYYWhEdW5uUTJqTDh2ZlNrM2pYYVpLSkxVSG5UTHI1WXVkZzR4c3h4T0Y0K3hGdHdhNitLZlFFWnJyR0Q3cHg1WUpHblM5MXJFajU4dCtwd0p1NTQyWEN0UzN2dWdNZjFnc0w2S0pFU05WRzBXdktkQno2bVVtS1drNGpwVmtPSkhQbmozVXdwaE1GVUd3ODNhWWR5THE4NU9sajZlOE1Nc25hVi9IRytJZko4Vml4VnBPMlJmU0l6Z2tEZE9paUxFeDBDMWJqZ3FGazZXSXZHbkpYWGQ2blhveXZqaWZuVWR5RXRZUFV1M1RvQVRFQkczODc1RTJDamlxTnpaZk9yamlkQlVoaDZPNkZkc2VHNTJqaGdyZ3hWV3ZHUDJtQTBTREVBcHVRcDNudS9ReDlCdEh5QVdTZzJBRDQvUzBMdFlQSHZnSFVrY0k2OTJiWnpuaDFqTUpvQm1JcmZnV3ZxWEhJSFg5UHB0TFg4T05KMkZrTXlmOEg3Y29yUURid2xPMHNtbllnTW9CeGpqSXZPa1cvQVl5WDI2Q2Q0ZndMS1ExeXNjY2wzVW92QXFFNGRTS1lwNHd4bnBIZ2d6U0RlZS9VSWhzdzJrMjNEaDV0WmZaTEFpdHJydEtQS25DYnVOV1BTVThYVFNod2NUY0o4SjJvNFJZbjYzRW9nUlZnT3pHMkVpZC95NUVxbktIZEVGVi9rSm1VZnRseC84V3ZvWFhHN0Znd2VrS3ZNeW1Jb2kzaFVLcThXbkU0MGdTbmh6cDZUN1lHdmNlaHBaR2Rya0lraWZ2ZDA5WnROR0t0OENTUTB4OVl0eDh0azZGbGx2aDNhRSsxWWpYdzNhZGZSUVdwbmN1cVBtSGF6aHdlcFF6OTF2YXh6clJ0MTIrUzM3L3hKL0xLVm9ZYk95aUJybkU0d3Q5NnB0ZmYzdzd1MjI5SGw3QmpxT3FpVzVKM1dNazlOa3Z3aVp2MkNXSzQ3aDJHSDE4TUZRT2hWbnhsUEYrZUhQYzIzMmlyVWdLaCtiemRiQU96UjVjRkE2T0VGZmVzbDd1Z3VVeFl0MFVVUDEwMzhBRDExdENJdFlUTGdTVE0ySVRkOUpXbGpULysydXhZcy9aZyt1dlBEOUk0bHlrR3VtWi9Wb3NzVTcwcDdpTnU1UloyTDhvY0xiWmFXaFpsTkp5OC8zQ0YrdzJEQWtGMGdGWU11RURNWWxGMzFCWDFzNkJCSTMxRVI2WWdQeVVNVzJXNXpSRkthTE5pQVlFaXdhY0J4NjJYc3hSZ2FUaFAyNDg0UDBiZVhNMjB2S1VEN3ZBRmRFMW9MY21aM1cxNTdPT09WOXlLOGRTa2k4SUthQlRIK0l6RVNxNDArREJzSlZ1Y1FVbk1VMWNOU1pSUUdEOTNZVVQ0eElWYXhVQUNxekVjTnRMNVNxRDlSR25FSmVRTzhLeDNnOEZ0dERpM3pzTGtQa1lQQ3QrWlgycUgwazM4UTl4OUdvQ2J2WFpzSWNZUzZFZUNBZFIrNFF1T2l1RVE2QzViOU9kOGNBTlR6VEhENldOTVoxQmNtNTNTbEFBSStSTGZjM1RxQXBDWEZUYk1abktDMmhIa0FpN3VZMW1zcm5NVzJjQTdOelcyTU1OdVZSUXFmcjh0MVg0NVJ0TXRpMW42Qk5HY3pEV2RLQkJINlZ2N0RjTlgvdVhoc2ZDTHp4ODZvbGZVdVphM0JMYVRJT2ZyM2tSbFZlWUkxK2N6L1BaR1NYNTlyOFVUZlZYd0tTLzRoeFJCMk5XeGJWZVRNdThFMzhrMjhFeGpqNDc5Sm9kRVhHVlJ1TThjajdsek5yZUpTV2R6ZWsxbkluVGtQMFVsVVNFSzB5MkpBTVJrYXJTSjJsSTJoYU95dG9uQmlIVUNIODljMnQ4VDZ1a09Nd1NKMFQ5QzZwZ3ZBOE85UjhEZ2ZWYitwOWhGbWhQSVEwZUxYcWxKNVB3MnJ1cUF3Qm1QTGFYTktmVHBWNFR2Qy91TkNSVUlUSU5JR3VESTFWNGRNZ2tzaVBJS2VqMXZTaWJpdGdpR2ZXajFaaWdTUXZ5UjFuNUgzb2REOWJXeHdDVUFaZGpwZDRQWkhjWTF3VVhJWHIzMnRvV21WdnBSdldkb0dSbTlmdlQ2eC9Mdnc5RmVOOS9FdWtKNGI2eFBMd0YvT3BCdS94d0VSOW55T3BGcG1XdjVRMGh2LzhWS2liRkgvcVJsM0FINjlWOFo5eUs3ekRPdTdyLzVaWDd4bFFOdHRqRlNtNmhYSzFxSzJ4TTlQOTVQRndldG5zOG5QekI4KzhiOElINzVtRHlHczNLNWFNSUF3UGUvM1dra0V6bnE0M2cxZXJmaFcvZjM1L2hla3o4cURVQ3ZnRGZ0cTNjTU5laVA1WFowZk0xTzBKd3hQeDN4SkhYMUNqUVJsc1E3T1dEWkY0YkxFbUptb0diOEpqSzNrOUpMeUtzazJmU0dNQzkrclM5ZGx5WVpHYjdDUzJXbGprYXNnOWRaQ1luNXAxekt1YkRxcjEwQnBmVGpVSkVQNFlhNmRFZTRWYTl6UTRPd2hzRjJ2Qk9SZXJSRDhTQm1Vd2hOUUFPbjlteW81NlhRQ3NNYU1zb09QeFZSaWRLUDBaTnQ4cysvTWlSVlA4USt1RUdKV0ZUVWFRM0RwNHI0OTRBeTlvdGJXL0RuT0xzR2NuWXpxeko2VExySmZaS1lITHhwSkdWd1RHZjJUZVlxcXdjem4xL29pUFEwR2F6UWY3ZDJiSEF2TWRIaVRZdjhrdDhlc1MzdHowTDNjNDR1LzEycE55OE5LWEc5VjFiOWx0Y0NhS2hJUkwxY1Q3SndqNnVNVWZvZC9vQnlRZE10aDVMKzhmNUpzM1QwZ0I5MCtLTU1JTVNTMGRUcGhrNzdHTmVBVGNsWHdsKzc2azYrSFZ3RkZwVmJUeVFocm1hT08vcnFaMlZkN2gwc3JmTStCREhNUkN3RURVRVFoWnY0S0cyeDR6TFg2K2dnOHl1MHJmTHo3VTg5TFppeU9KNkkvNkhraS9JVmJncTJ2ak1PNnRKVXpwSHBBb1ZNN3YzbGNmMzFDL3dPSWhWU0pIampjdXQ1V2tZNUhMN2VzMGtTbDBHYnQ0aEZ2RFlteUZHTUpoY0xPZm1vZllLZmJJYWtKTEp4SGJiTWZtYTA2TVMrMGhlUDlDK2pwZjVCd0dJYm5WUStzZG9oOVdwY2VrenlYM3VyTkVaOTVmS1M5S0ZhaXRPVjB1cTU0VE85NFVzQndHZ3NjYnh6N2twZkpxQS9wNVp0N0lSSi9BYzl5L2F6d2JuWXB2TmoyOFVHVzhNbXg3MzcvTXdYOHZMVkYzcWlCQXBXNmlxN0RJSjAxZzRUcjVjMFMxdHM1aU1lMVJmZmlobGNIZ2pxOStBRzlXK0R0TjB0VWRKQ2VUSzJOOVZCME1YVXZ5eCtjN2pQTXltRmFjUHZ3NlhxOEtmd0tZbHNHWWFhaUZUUFJNOTRFR0RNR21VNjVTMkYwTGlPeW9QZURPSlpVWnNUZFgxR01RQVd6bXYya0dla2o1NmxjYnBXdUFSRERZNklONGdvK0FNZ0NmZ1FHSGhWUUFWNDlWRndlQnNRWDNzd2NqTFQ5YSs4eUsxSmxzSldlYm1yVXJhU3ptejNJM3ZoQStTTjQrUWJQNnErbTd1NTl6RTlQVGVVTjlNcGlpT0JiWW9KQzZNYkcxcEhGYUpVb1RRakdYOXM1OFFhdENpNzEwNjhuN25XMlQ0akFPR2Y0ZWZsbGZjSTIyaHZGYWs5aGo3anA5ZExUTDJoRXc0M3lFR3BGQTE1dTFhMFQ0ZmwxRnpqVU5uYlcvRWp1b0xqZmpGWkFNeHJFNlU2eEMwTWI3ZytnQmpEcEpMb0pPT2F1Kzg3alZJUzZ5bjN4Tlg4QWMvZTU1TkczS0dRbWFNVjJzNVVwNlBiVXJkY0laVlkwSnY3UTUwMzRoMHZLUGtycjh1eTZleVRXV2U2cjA4ODNESndZOE5YS3JMSjdWdmRDMkNpaG9zQ3k1d1c2cnZaNkF1ZXVLcG9RT2V4d0ttYTI4NDNGcGd4RFdGTW95dDhLQU5yMHltQTVodW9LNFhzZ3RMTFRSZ1J5NElldmM4MDA0eGdCanU0czFkQ29SempQYlFQRFI4NXRCVUZmRGUwVEx0VHB1cENJUEF1QzlOcmtMajlvQk9yL3ZXK3hWdTljaHdaS2ExdU1wbmxOaWc4YWFISjUrNCt1YlJkK1VSY2VnUmU2SHlocklobVBXSjdpMlFNcWphNG9QUXNud0hQR09UQ3hQQU1OMHFwT2NyWUUvSVN4M01JZVRiN3VtZmozS0JNcUxyMTBCRjVkV2dqL2ljczdFUkJCM25EVU1DSE9pc2VmaHEyVkJyb0d1Z1QvNjFoWnNxYS8vVlR2b2hFTFFpZi84UDd2TllycTB3YklNREZvTkNBaGFEYnJybU9KWWIvbllFdSt6dCtraE56aTVRY1hFUjRmVVVtYmg1bDMrZk5yeGxMVnJYOERaRmZzM1ZiYnYvbjY0akNEc21HOHc1bFdXTFZzNWluZUkzT2JGYUNCa0kxcmtLSDFKVVNmR1V2TGxMTzZlNTZ3bk9pYWRSV3pyanZ4VHZBOUU5bG9yczZRSUVENkl5a2MyRTR2RTJvOWZoVXRmSXZYcHlyaE1YK0JOSjdZWHVYYys0Y2o3ZXdlbWFZVnEvdDZxRGkvZk5FOGRzbG5QdUdzak44alY2Mm0vMHlJRWMxNVMxZFBVaGRNWkdla0kwaGVVQWJIUE9ORTJzZDEzOVh2WGVDc29SZmppWlZwRDViR3RVd2N3amgvUzdqdzhFdCtaeG5yVG5qS1VZajI3b3FUZGV2aFdyb1ZiNkU5MllYNVYvcm14L3FIMFdKOXF6eS9HMWZxNCt0UU94b0tscTQ4dDM4VElQZDNSemVNWEpHR3lPTWhFejhOODRuS3luOWR0L3hxTElVNklwK2RtL1B0MVBGRzBBMEx3bEgrbHc1YkM4Q2pBclFGWVpFbS9sOXlYd1M2eGJ6eUYxTkhUWW9NbWlOUlBONUpYcnVpOE9BTjZ4OGxDTUNzb0Eyd3QzR0xmSHFoNHNRK2g0ZXprZkZJNVQ0em1KZW9QaEdFMlhNWWlwcXBvY1Arc3E2N2FZMUdQRzJZYW8veHV4SVEzZWo2OWNiVGpnR1ZKU2pMWnR2cFE0T3VxVVF2UDRTanYxKzI2dFc2SFF4SU8rM2wvbUFnT2VlcjVEWE9oWjB1QitlTUNWZk1Idi80N3FPazd5KzNiN1lIWHIrSS9vYlkrWVdYRnRaSFRZbzF2UFRXWmZvcGVXSnAzQmc3dlliYmZUZzhlM1Y5N2J5bXUwRzNHdk9yYnhsZTFZN2JUVFJWWEhzN2NuZlMyZTIwN09kK2dHMlU0WWFlbTZTUGFWYzByU21kdEloTTZuMG5uUUczR3RVUWF3cEozc2RqS3hxcWZZQWpRYndranRQWXZ5UW5wcVhRT3FLZHR2SDZ6WEpPNFlQNWdzNzNZNjBKcmdVZlVZcGYxQllIRnNlZmV3MjNUalVUN3BZM1Z4YVRaK2NqM3QyOEZleGdYdTJyNW5WRDZYd1pDTnY4ZlVFc0JBaFFERkFBQUFBZ0FtV1A4WEtLQW5LZXZBUUFBNlFNQUFBd0FDUUFBQUFBQUFBQUFBTGFCQUFBQUFHUnZZM1Z0Wlc1MExuaHRiRlZVQlFBSEF6Qm9hbEJMQVFJVUF4UUFBQUFJQUpsai9GeHhwY2d2Q1NBQUFPMlVBUUFQQUFrQUFBQUFBQUFBQUFDMmdka0JBQUJ3WVdkbGN5OXdZV2RsTVM1NGJXeFZWQVVBQndNd2FHcFFTd0VDRkFNVUFBQUFDQUNaWS94Y0pQRGIrRG9BQUFBNkFBQUFEZ0FKQUFBQUFBQUFBQUFBdG9FUElnQUFjbVZzY3k5ZmNtVnNjeTU0Yld4VlZBVUFCd013YUdwUVN3RUNGQU1VQUFBQUNBQ1pZL3hjSlBEYitEb0FBQUE2QUFBQUV3QUpBQUFBQUFBQUFBQUF0b0YxSWdBQWNtVnNjeTl3WVdkbE1WOXlaV3h6TG5odGJGVlVCUUFIQXpCb2FsQkxBUUlVQXhRQUFBQUlBSmxqL0Z4MzRRTGR1d01BQUdNZkFBQUpBQWtBQUFBQUFBQUFBQUMyZ2VBaUFBQjBhR1Z0WlM1NGJXeFZWQVVBQndNd2FHcFFTd0VDRkFNVUFBQUFDQUNaWS94Y1FLWFZ6VWtnQUFBWklnQUFEZ0FKQUFBQUFBQUFBQUFBdG9IQ0pnQUFkR2gxYldKdVlXbHNMbXB3WldkVlZBVUFCd013YUdwUVN3VUdBQUFBQUFZQUJnQ2RBUUFBTjBjQUFBQUEiLAoJIkZpbGVOYW1lIiA6ICLnu5jlm74xKDIpLmVkZHgiCn0K"/>
    </extobj>
  </extobjs>
</s:customData>
</file>

<file path=customXml/itemProps97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1789</Words>
  <Application>WPS 演示</Application>
  <PresentationFormat>宽屏</PresentationFormat>
  <Paragraphs>108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尹楚寒</cp:lastModifiedBy>
  <cp:revision>157</cp:revision>
  <dcterms:created xsi:type="dcterms:W3CDTF">2019-06-19T02:08:00Z</dcterms:created>
  <dcterms:modified xsi:type="dcterms:W3CDTF">2026-07-28T04:37:41Z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ADF0207ACCF9487B8825777C0BDE1059_11</vt:lpwstr>
  </property>
</Properties>
</file>